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38.xml.rels" ContentType="application/vnd.openxmlformats-package.relationships+xml"/>
  <Override PartName="/ppt/slides/_rels/slide5.xml.rels" ContentType="application/vnd.openxmlformats-package.relationships+xml"/>
  <Override PartName="/ppt/slides/_rels/slide39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40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45.xml.rels" ContentType="application/vnd.openxmlformats-package.relationships+xml"/>
  <Override PartName="/ppt/slides/_rels/slide46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svg" ContentType="image/svg"/>
  <Override PartName="/ppt/media/image5.png" ContentType="image/png"/>
  <Override PartName="/ppt/media/image83.wmf" ContentType="image/x-wmf"/>
  <Override PartName="/ppt/media/image17.jpeg" ContentType="image/jpeg"/>
  <Override PartName="/ppt/media/image3.png" ContentType="image/png"/>
  <Override PartName="/ppt/media/image81.wmf" ContentType="image/x-wmf"/>
  <Override PartName="/ppt/media/image82.wmf" ContentType="image/x-wmf"/>
  <Override PartName="/ppt/media/image4.png" ContentType="image/png"/>
  <Override PartName="/ppt/media/image84.wmf" ContentType="image/x-wmf"/>
  <Override PartName="/ppt/media/image6.png" ContentType="image/png"/>
  <Override PartName="/ppt/media/image85.wmf" ContentType="image/x-wmf"/>
  <Override PartName="/ppt/media/image7.png" ContentType="image/png"/>
  <Override PartName="/ppt/media/image86.wmf" ContentType="image/x-wmf"/>
  <Override PartName="/ppt/media/image8.png" ContentType="image/png"/>
  <Override PartName="/ppt/media/image87.wmf" ContentType="image/x-wmf"/>
  <Override PartName="/ppt/media/image9.png" ContentType="image/png"/>
  <Override PartName="/ppt/media/image10.svg" ContentType="image/svg"/>
  <Override PartName="/ppt/media/image11.png" ContentType="image/png"/>
  <Override PartName="/ppt/media/image12.svg" ContentType="image/svg"/>
  <Override PartName="/ppt/media/image20.png" ContentType="image/png"/>
  <Override PartName="/ppt/media/image13.png" ContentType="image/png"/>
  <Override PartName="/ppt/media/image14.svg" ContentType="image/svg"/>
  <Override PartName="/ppt/media/image22.png" ContentType="image/png"/>
  <Override PartName="/ppt/media/image34.wmf" ContentType="image/x-wmf"/>
  <Override PartName="/ppt/media/image15.png" ContentType="image/png"/>
  <Override PartName="/ppt/media/image16.jpeg" ContentType="image/jpeg"/>
  <Override PartName="/ppt/media/image18.png" ContentType="image/png"/>
  <Override PartName="/ppt/media/image40.wmf" ContentType="image/x-wmf"/>
  <Override PartName="/ppt/media/image19.png" ContentType="image/png"/>
  <Override PartName="/ppt/media/image41.wmf" ContentType="image/x-wmf"/>
  <Override PartName="/ppt/media/image21.png" ContentType="image/png"/>
  <Override PartName="/ppt/media/image23.png" ContentType="image/png"/>
  <Override PartName="/ppt/media/image35.wmf" ContentType="image/x-wmf"/>
  <Override PartName="/ppt/media/image24.png" ContentType="image/png"/>
  <Override PartName="/ppt/media/image25.png" ContentType="image/png"/>
  <Override PartName="/ppt/media/image37.wmf" ContentType="image/x-wmf"/>
  <Override PartName="/ppt/media/image26.png" ContentType="image/png"/>
  <Override PartName="/ppt/media/image38.wmf" ContentType="image/x-wmf"/>
  <Override PartName="/ppt/media/image27.png" ContentType="image/png"/>
  <Override PartName="/ppt/media/image39.wmf" ContentType="image/x-wmf"/>
  <Override PartName="/ppt/media/image28.png" ContentType="image/png"/>
  <Override PartName="/ppt/media/image50.wmf" ContentType="image/x-wmf"/>
  <Override PartName="/ppt/media/image29.png" ContentType="image/png"/>
  <Override PartName="/ppt/media/image51.wmf" ContentType="image/x-wmf"/>
  <Override PartName="/ppt/media/image30.png" ContentType="image/png"/>
  <Override PartName="/ppt/media/image42.wmf" ContentType="image/x-wmf"/>
  <Override PartName="/ppt/media/image31.png" ContentType="image/png"/>
  <Override PartName="/ppt/media/image43.wmf" ContentType="image/x-wmf"/>
  <Override PartName="/ppt/media/image32.png" ContentType="image/png"/>
  <Override PartName="/ppt/media/image44.wmf" ContentType="image/x-wmf"/>
  <Override PartName="/ppt/media/image33.png" ContentType="image/png"/>
  <Override PartName="/ppt/media/image45.wmf" ContentType="image/x-wmf"/>
  <Override PartName="/ppt/media/image36.png" ContentType="image/png"/>
  <Override PartName="/ppt/media/image48.wmf" ContentType="image/x-wmf"/>
  <Override PartName="/ppt/media/image46.wmf" ContentType="image/x-wmf"/>
  <Override PartName="/ppt/media/image47.wmf" ContentType="image/x-wmf"/>
  <Override PartName="/ppt/media/image49.wmf" ContentType="image/x-wmf"/>
  <Override PartName="/ppt/media/image52.png" ContentType="image/png"/>
  <Override PartName="/ppt/media/image64.wmf" ContentType="image/x-wmf"/>
  <Override PartName="/ppt/media/image65.wmf" ContentType="image/x-wmf"/>
  <Override PartName="/ppt/media/image53.png" ContentType="image/png"/>
  <Override PartName="/ppt/media/image54.wmf" ContentType="image/x-wmf"/>
  <Override PartName="/ppt/media/image55.wmf" ContentType="image/x-wmf"/>
  <Override PartName="/ppt/media/image56.wmf" ContentType="image/x-wmf"/>
  <Override PartName="/ppt/media/image57.wmf" ContentType="image/x-wmf"/>
  <Override PartName="/ppt/media/image58.wmf" ContentType="image/x-wmf"/>
  <Override PartName="/ppt/media/image59.wmf" ContentType="image/x-wmf"/>
  <Override PartName="/ppt/media/image60.wmf" ContentType="image/x-wmf"/>
  <Override PartName="/ppt/media/image61.wmf" ContentType="image/x-wmf"/>
  <Override PartName="/ppt/media/image62.wmf" ContentType="image/x-wmf"/>
  <Override PartName="/ppt/media/image63.wmf" ContentType="image/x-wmf"/>
  <Override PartName="/ppt/media/image66.wmf" ContentType="image/x-wmf"/>
  <Override PartName="/ppt/media/image67.wmf" ContentType="image/x-wmf"/>
  <Override PartName="/ppt/media/image68.wmf" ContentType="image/x-wmf"/>
  <Override PartName="/ppt/media/image69.wmf" ContentType="image/x-wmf"/>
  <Override PartName="/ppt/media/image70.wmf" ContentType="image/x-wmf"/>
  <Override PartName="/ppt/media/image71.wmf" ContentType="image/x-wmf"/>
  <Override PartName="/ppt/media/image72.wmf" ContentType="image/x-wmf"/>
  <Override PartName="/ppt/media/image73.wmf" ContentType="image/x-wmf"/>
  <Override PartName="/ppt/media/image74.wmf" ContentType="image/x-wmf"/>
  <Override PartName="/ppt/media/image75.wmf" ContentType="image/x-wmf"/>
  <Override PartName="/ppt/media/image76.png" ContentType="image/png"/>
  <Override PartName="/ppt/media/image88.wmf" ContentType="image/x-wmf"/>
  <Override PartName="/ppt/media/image77.wmf" ContentType="image/x-wmf"/>
  <Override PartName="/ppt/media/image78.wmf" ContentType="image/x-wmf"/>
  <Override PartName="/ppt/media/image79.wmf" ContentType="image/x-wmf"/>
  <Override PartName="/ppt/media/image80.wmf" ContentType="image/x-wmf"/>
  <Override PartName="/ppt/media/image89.wmf" ContentType="image/x-wmf"/>
  <Override PartName="/ppt/media/image90.wmf" ContentType="image/x-wmf"/>
  <Override PartName="/ppt/media/image91.wmf" ContentType="image/x-wmf"/>
  <Override PartName="/ppt/media/image92.wmf" ContentType="image/x-wmf"/>
  <Override PartName="/ppt/media/image93.wmf" ContentType="image/x-wmf"/>
  <Override PartName="/ppt/media/image94.wmf" ContentType="image/x-wmf"/>
  <Override PartName="/ppt/media/image95.wmf" ContentType="image/x-wmf"/>
  <Override PartName="/ppt/media/image96.wmf" ContentType="image/x-wmf"/>
  <Override PartName="/ppt/media/image97.wmf" ContentType="image/x-wmf"/>
  <Override PartName="/ppt/media/image98.png" ContentType="image/png"/>
  <Override PartName="/ppt/media/image99.wmf" ContentType="image/x-wmf"/>
  <Override PartName="/ppt/media/image100.wmf" ContentType="image/x-wmf"/>
  <Override PartName="/ppt/media/image101.wmf" ContentType="image/x-wmf"/>
  <Override PartName="/ppt/media/image102.png" ContentType="image/png"/>
  <Override PartName="/ppt/media/image10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72" r:id="rId11"/>
    <p:sldMasterId id="2147483674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</p:sldIdLst>
  <p:sldSz cx="18288000" cy="10287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Relationship Id="rId57" Type="http://schemas.openxmlformats.org/officeDocument/2006/relationships/slide" Target="slides/slide45.xml"/><Relationship Id="rId58" Type="http://schemas.openxmlformats.org/officeDocument/2006/relationships/slide" Target="slides/slide46.xml"/><Relationship Id="rId5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EE8C16-C94C-4705-B896-EE285ECA2E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CEB41E-CDAD-4A18-BE80-E602817705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3CE5017-DEEF-4A96-B942-F264BB15E8B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CBFF029-4393-4BAA-9872-DF68855062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9B1A370-112E-4FDA-8FDD-A90028B87B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57290C9-54EA-4D5D-BE05-1624B8BBF2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D7F2757-1EEE-443D-ACEB-3F54C28A26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6F68B96E-7671-4249-8ECC-7725F1FDBA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720BCB9-D34F-4BE1-845F-23756EEB1D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64EED35-4141-4F55-83F2-3ECA2A2E37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3BC7E16-99ED-4EE9-9F15-1BE9EEE69A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210A408-28D4-43EB-BA63-3BA58CB34C6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F4A5B4F-BE53-45EF-BDDD-99414E8A51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658CEBB-19FC-4CE8-A48E-73736C458C9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ADBF918-C274-4442-8663-8F2A15EC7F6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FE2C2F0-3891-4BD7-8660-882232EC7C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B3D024D8-4E47-4518-8985-225962CF83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6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AE3C46-9077-41C8-87D7-64C3B88DA0C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19C55F-7548-4EBF-A7D0-2582533FAD9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785229-25D5-455D-8493-8403B6C6967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5A5F12-DBE2-44CB-BBAE-F32541A8D67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2CDA03-0178-4CFE-A443-3BC6978F3D7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46FE6B-34FA-4702-9B44-53947353854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CE402A-D916-45D6-B70F-47CB02B67A1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7CA654-EE2E-49C3-8679-3DADB4B6FC5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AECAFD-84D0-44AF-8D07-35381690BEF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48A413-47BC-475C-B734-DA13B9198D3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9E2556-6CB8-4403-9C36-75F17CA51DC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4.png"/><Relationship Id="rId9" Type="http://schemas.openxmlformats.org/officeDocument/2006/relationships/image" Target="../media/image6.png"/><Relationship Id="rId10" Type="http://schemas.openxmlformats.org/officeDocument/2006/relationships/image" Target="../media/image1.png"/><Relationship Id="rId11" Type="http://schemas.openxmlformats.org/officeDocument/2006/relationships/image" Target="../media/image2.svg"/><Relationship Id="rId12" Type="http://schemas.openxmlformats.org/officeDocument/2006/relationships/image" Target="../media/image7.png"/><Relationship Id="rId13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6.png"/><Relationship Id="rId7" Type="http://schemas.openxmlformats.org/officeDocument/2006/relationships/image" Target="../media/image6.png"/><Relationship Id="rId8" Type="http://schemas.openxmlformats.org/officeDocument/2006/relationships/image" Target="../media/image6.png"/><Relationship Id="rId9" Type="http://schemas.openxmlformats.org/officeDocument/2006/relationships/image" Target="../media/image6.png"/><Relationship Id="rId10" Type="http://schemas.openxmlformats.org/officeDocument/2006/relationships/image" Target="../media/image6.png"/><Relationship Id="rId11" Type="http://schemas.openxmlformats.org/officeDocument/2006/relationships/image" Target="../media/image6.png"/><Relationship Id="rId12" Type="http://schemas.openxmlformats.org/officeDocument/2006/relationships/image" Target="../media/image6.png"/><Relationship Id="rId13" Type="http://schemas.openxmlformats.org/officeDocument/2006/relationships/image" Target="../media/image6.png"/><Relationship Id="rId14" Type="http://schemas.openxmlformats.org/officeDocument/2006/relationships/image" Target="../media/image6.png"/><Relationship Id="rId15" Type="http://schemas.openxmlformats.org/officeDocument/2006/relationships/image" Target="../media/image6.png"/><Relationship Id="rId16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svg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image" Target="../media/image13.png"/><Relationship Id="rId6" Type="http://schemas.openxmlformats.org/officeDocument/2006/relationships/image" Target="../media/image14.svg"/><Relationship Id="rId7" Type="http://schemas.openxmlformats.org/officeDocument/2006/relationships/image" Target="../media/image15.png"/><Relationship Id="rId8" Type="http://schemas.openxmlformats.org/officeDocument/2006/relationships/image" Target="../media/image13.png"/><Relationship Id="rId9" Type="http://schemas.openxmlformats.org/officeDocument/2006/relationships/image" Target="../media/image14.svg"/><Relationship Id="rId10" Type="http://schemas.openxmlformats.org/officeDocument/2006/relationships/image" Target="../media/image15.png"/><Relationship Id="rId11" Type="http://schemas.openxmlformats.org/officeDocument/2006/relationships/image" Target="../media/image1.png"/><Relationship Id="rId12" Type="http://schemas.openxmlformats.org/officeDocument/2006/relationships/image" Target="../media/image2.svg"/><Relationship Id="rId13" Type="http://schemas.openxmlformats.org/officeDocument/2006/relationships/image" Target="../media/image4.png"/><Relationship Id="rId14" Type="http://schemas.openxmlformats.org/officeDocument/2006/relationships/image" Target="../media/image4.png"/><Relationship Id="rId15" Type="http://schemas.openxmlformats.org/officeDocument/2006/relationships/image" Target="../media/image6.png"/><Relationship Id="rId16" Type="http://schemas.openxmlformats.org/officeDocument/2006/relationships/image" Target="../media/image6.png"/><Relationship Id="rId17" Type="http://schemas.openxmlformats.org/officeDocument/2006/relationships/image" Target="../media/image4.png"/><Relationship Id="rId18" Type="http://schemas.openxmlformats.org/officeDocument/2006/relationships/image" Target="../media/image4.png"/><Relationship Id="rId19" Type="http://schemas.openxmlformats.org/officeDocument/2006/relationships/image" Target="../media/image6.png"/><Relationship Id="rId20" Type="http://schemas.openxmlformats.org/officeDocument/2006/relationships/image" Target="../media/image16.jpeg"/><Relationship Id="rId2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svg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image" Target="../media/image13.png"/><Relationship Id="rId6" Type="http://schemas.openxmlformats.org/officeDocument/2006/relationships/image" Target="../media/image14.svg"/><Relationship Id="rId7" Type="http://schemas.openxmlformats.org/officeDocument/2006/relationships/image" Target="../media/image15.png"/><Relationship Id="rId8" Type="http://schemas.openxmlformats.org/officeDocument/2006/relationships/image" Target="../media/image13.png"/><Relationship Id="rId9" Type="http://schemas.openxmlformats.org/officeDocument/2006/relationships/image" Target="../media/image14.svg"/><Relationship Id="rId10" Type="http://schemas.openxmlformats.org/officeDocument/2006/relationships/image" Target="../media/image15.png"/><Relationship Id="rId11" Type="http://schemas.openxmlformats.org/officeDocument/2006/relationships/image" Target="../media/image1.png"/><Relationship Id="rId12" Type="http://schemas.openxmlformats.org/officeDocument/2006/relationships/image" Target="../media/image2.svg"/><Relationship Id="rId13" Type="http://schemas.openxmlformats.org/officeDocument/2006/relationships/image" Target="../media/image4.png"/><Relationship Id="rId14" Type="http://schemas.openxmlformats.org/officeDocument/2006/relationships/image" Target="../media/image4.png"/><Relationship Id="rId15" Type="http://schemas.openxmlformats.org/officeDocument/2006/relationships/image" Target="../media/image6.png"/><Relationship Id="rId16" Type="http://schemas.openxmlformats.org/officeDocument/2006/relationships/image" Target="../media/image6.png"/><Relationship Id="rId17" Type="http://schemas.openxmlformats.org/officeDocument/2006/relationships/image" Target="../media/image4.png"/><Relationship Id="rId18" Type="http://schemas.openxmlformats.org/officeDocument/2006/relationships/image" Target="../media/image4.png"/><Relationship Id="rId19" Type="http://schemas.openxmlformats.org/officeDocument/2006/relationships/image" Target="../media/image6.png"/><Relationship Id="rId20" Type="http://schemas.openxmlformats.org/officeDocument/2006/relationships/image" Target="../media/image17.jpeg"/><Relationship Id="rId2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svg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image" Target="../media/image13.png"/><Relationship Id="rId6" Type="http://schemas.openxmlformats.org/officeDocument/2006/relationships/image" Target="../media/image14.svg"/><Relationship Id="rId7" Type="http://schemas.openxmlformats.org/officeDocument/2006/relationships/image" Target="../media/image15.png"/><Relationship Id="rId8" Type="http://schemas.openxmlformats.org/officeDocument/2006/relationships/image" Target="../media/image13.png"/><Relationship Id="rId9" Type="http://schemas.openxmlformats.org/officeDocument/2006/relationships/image" Target="../media/image14.svg"/><Relationship Id="rId10" Type="http://schemas.openxmlformats.org/officeDocument/2006/relationships/image" Target="../media/image15.png"/><Relationship Id="rId11" Type="http://schemas.openxmlformats.org/officeDocument/2006/relationships/image" Target="../media/image1.png"/><Relationship Id="rId12" Type="http://schemas.openxmlformats.org/officeDocument/2006/relationships/image" Target="../media/image2.svg"/><Relationship Id="rId13" Type="http://schemas.openxmlformats.org/officeDocument/2006/relationships/image" Target="../media/image4.png"/><Relationship Id="rId14" Type="http://schemas.openxmlformats.org/officeDocument/2006/relationships/image" Target="../media/image4.png"/><Relationship Id="rId15" Type="http://schemas.openxmlformats.org/officeDocument/2006/relationships/image" Target="../media/image6.png"/><Relationship Id="rId16" Type="http://schemas.openxmlformats.org/officeDocument/2006/relationships/image" Target="../media/image6.png"/><Relationship Id="rId17" Type="http://schemas.openxmlformats.org/officeDocument/2006/relationships/image" Target="../media/image4.png"/><Relationship Id="rId18" Type="http://schemas.openxmlformats.org/officeDocument/2006/relationships/image" Target="../media/image4.png"/><Relationship Id="rId19" Type="http://schemas.openxmlformats.org/officeDocument/2006/relationships/image" Target="../media/image6.png"/><Relationship Id="rId20" Type="http://schemas.openxmlformats.org/officeDocument/2006/relationships/image" Target="../media/image18.png"/><Relationship Id="rId2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svg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image" Target="../media/image13.png"/><Relationship Id="rId6" Type="http://schemas.openxmlformats.org/officeDocument/2006/relationships/image" Target="../media/image14.svg"/><Relationship Id="rId7" Type="http://schemas.openxmlformats.org/officeDocument/2006/relationships/image" Target="../media/image15.png"/><Relationship Id="rId8" Type="http://schemas.openxmlformats.org/officeDocument/2006/relationships/image" Target="../media/image13.png"/><Relationship Id="rId9" Type="http://schemas.openxmlformats.org/officeDocument/2006/relationships/image" Target="../media/image14.svg"/><Relationship Id="rId10" Type="http://schemas.openxmlformats.org/officeDocument/2006/relationships/image" Target="../media/image15.png"/><Relationship Id="rId11" Type="http://schemas.openxmlformats.org/officeDocument/2006/relationships/image" Target="../media/image1.png"/><Relationship Id="rId12" Type="http://schemas.openxmlformats.org/officeDocument/2006/relationships/image" Target="../media/image2.svg"/><Relationship Id="rId13" Type="http://schemas.openxmlformats.org/officeDocument/2006/relationships/image" Target="../media/image4.png"/><Relationship Id="rId14" Type="http://schemas.openxmlformats.org/officeDocument/2006/relationships/image" Target="../media/image4.png"/><Relationship Id="rId15" Type="http://schemas.openxmlformats.org/officeDocument/2006/relationships/image" Target="../media/image6.png"/><Relationship Id="rId16" Type="http://schemas.openxmlformats.org/officeDocument/2006/relationships/image" Target="../media/image6.png"/><Relationship Id="rId17" Type="http://schemas.openxmlformats.org/officeDocument/2006/relationships/image" Target="../media/image4.png"/><Relationship Id="rId18" Type="http://schemas.openxmlformats.org/officeDocument/2006/relationships/image" Target="../media/image4.png"/><Relationship Id="rId19" Type="http://schemas.openxmlformats.org/officeDocument/2006/relationships/image" Target="../media/image6.png"/><Relationship Id="rId20" Type="http://schemas.openxmlformats.org/officeDocument/2006/relationships/image" Target="../media/image19.png"/><Relationship Id="rId2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22.png"/><Relationship Id="rId6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33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34.wmf"/><Relationship Id="rId5" Type="http://schemas.openxmlformats.org/officeDocument/2006/relationships/image" Target="../media/image35.wmf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36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37.wmf"/><Relationship Id="rId6" Type="http://schemas.openxmlformats.org/officeDocument/2006/relationships/image" Target="../media/image38.wmf"/><Relationship Id="rId7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39.wmf"/><Relationship Id="rId6" Type="http://schemas.openxmlformats.org/officeDocument/2006/relationships/image" Target="../media/image40.wmf"/><Relationship Id="rId7" Type="http://schemas.openxmlformats.org/officeDocument/2006/relationships/image" Target="../media/image41.wmf"/><Relationship Id="rId8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42.wmf"/><Relationship Id="rId6" Type="http://schemas.openxmlformats.org/officeDocument/2006/relationships/image" Target="../media/image43.wmf"/><Relationship Id="rId7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44.wmf"/><Relationship Id="rId6" Type="http://schemas.openxmlformats.org/officeDocument/2006/relationships/image" Target="../media/image45.wmf"/><Relationship Id="rId7" Type="http://schemas.openxmlformats.org/officeDocument/2006/relationships/image" Target="../media/image46.wmf"/><Relationship Id="rId8" Type="http://schemas.openxmlformats.org/officeDocument/2006/relationships/image" Target="../media/image47.wmf"/><Relationship Id="rId9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48.wmf"/><Relationship Id="rId6" Type="http://schemas.openxmlformats.org/officeDocument/2006/relationships/image" Target="../media/image49.wmf"/><Relationship Id="rId7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50.wmf"/><Relationship Id="rId6" Type="http://schemas.openxmlformats.org/officeDocument/2006/relationships/image" Target="../media/image51.wmf"/><Relationship Id="rId7" Type="http://schemas.openxmlformats.org/officeDocument/2006/relationships/image" Target="../media/image52.png"/><Relationship Id="rId8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4.png"/><Relationship Id="rId4" Type="http://schemas.openxmlformats.org/officeDocument/2006/relationships/image" Target="../media/image4.png"/><Relationship Id="rId5" Type="http://schemas.openxmlformats.org/officeDocument/2006/relationships/image" Target="../media/image53.png"/><Relationship Id="rId6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54.wmf"/><Relationship Id="rId6" Type="http://schemas.openxmlformats.org/officeDocument/2006/relationships/image" Target="../media/image55.wmf"/><Relationship Id="rId7" Type="http://schemas.openxmlformats.org/officeDocument/2006/relationships/image" Target="../media/image56.wmf"/><Relationship Id="rId8" Type="http://schemas.openxmlformats.org/officeDocument/2006/relationships/image" Target="../media/image57.wmf"/><Relationship Id="rId9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58.wmf"/><Relationship Id="rId6" Type="http://schemas.openxmlformats.org/officeDocument/2006/relationships/image" Target="../media/image59.wmf"/><Relationship Id="rId7" Type="http://schemas.openxmlformats.org/officeDocument/2006/relationships/image" Target="../media/image60.wmf"/><Relationship Id="rId8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61.wmf"/><Relationship Id="rId6" Type="http://schemas.openxmlformats.org/officeDocument/2006/relationships/image" Target="../media/image62.wmf"/><Relationship Id="rId7" Type="http://schemas.openxmlformats.org/officeDocument/2006/relationships/image" Target="../media/image63.wmf"/><Relationship Id="rId8" Type="http://schemas.openxmlformats.org/officeDocument/2006/relationships/image" Target="../media/image64.wmf"/><Relationship Id="rId9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65.wmf"/><Relationship Id="rId6" Type="http://schemas.openxmlformats.org/officeDocument/2006/relationships/image" Target="../media/image66.wmf"/><Relationship Id="rId7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67.wmf"/><Relationship Id="rId6" Type="http://schemas.openxmlformats.org/officeDocument/2006/relationships/image" Target="../media/image68.wmf"/><Relationship Id="rId7" Type="http://schemas.openxmlformats.org/officeDocument/2006/relationships/image" Target="../media/image69.wmf"/><Relationship Id="rId8" Type="http://schemas.openxmlformats.org/officeDocument/2006/relationships/image" Target="../media/image70.wmf"/><Relationship Id="rId9" Type="http://schemas.openxmlformats.org/officeDocument/2006/relationships/image" Target="../media/image71.wmf"/><Relationship Id="rId10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72.wmf"/><Relationship Id="rId6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73.wmf"/><Relationship Id="rId6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74.wmf"/><Relationship Id="rId6" Type="http://schemas.openxmlformats.org/officeDocument/2006/relationships/image" Target="../media/image75.wmf"/><Relationship Id="rId7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4.png"/><Relationship Id="rId4" Type="http://schemas.openxmlformats.org/officeDocument/2006/relationships/image" Target="../media/image4.png"/><Relationship Id="rId5" Type="http://schemas.openxmlformats.org/officeDocument/2006/relationships/image" Target="../media/image76.png"/><Relationship Id="rId6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77.wmf"/><Relationship Id="rId6" Type="http://schemas.openxmlformats.org/officeDocument/2006/relationships/image" Target="../media/image78.wmf"/><Relationship Id="rId7" Type="http://schemas.openxmlformats.org/officeDocument/2006/relationships/image" Target="../media/image79.wmf"/><Relationship Id="rId8" Type="http://schemas.openxmlformats.org/officeDocument/2006/relationships/image" Target="../media/image80.wmf"/><Relationship Id="rId9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81.wmf"/><Relationship Id="rId6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82.wmf"/><Relationship Id="rId6" Type="http://schemas.openxmlformats.org/officeDocument/2006/relationships/image" Target="../media/image83.wmf"/><Relationship Id="rId7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84.wmf"/><Relationship Id="rId6" Type="http://schemas.openxmlformats.org/officeDocument/2006/relationships/image" Target="../media/image85.wmf"/><Relationship Id="rId7" Type="http://schemas.openxmlformats.org/officeDocument/2006/relationships/image" Target="../media/image86.wmf"/><Relationship Id="rId8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87.wmf"/><Relationship Id="rId6" Type="http://schemas.openxmlformats.org/officeDocument/2006/relationships/image" Target="../media/image88.wmf"/><Relationship Id="rId7" Type="http://schemas.openxmlformats.org/officeDocument/2006/relationships/image" Target="../media/image89.wmf"/><Relationship Id="rId8" Type="http://schemas.openxmlformats.org/officeDocument/2006/relationships/image" Target="../media/image90.wmf"/><Relationship Id="rId9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91.wmf"/><Relationship Id="rId6" Type="http://schemas.openxmlformats.org/officeDocument/2006/relationships/image" Target="../media/image92.wmf"/><Relationship Id="rId7" Type="http://schemas.openxmlformats.org/officeDocument/2006/relationships/image" Target="../media/image93.wmf"/><Relationship Id="rId8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94.wmf"/><Relationship Id="rId6" Type="http://schemas.openxmlformats.org/officeDocument/2006/relationships/image" Target="../media/image95.wmf"/><Relationship Id="rId7" Type="http://schemas.openxmlformats.org/officeDocument/2006/relationships/image" Target="../media/image96.wmf"/><Relationship Id="rId8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97.wmf"/><Relationship Id="rId6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4.png"/><Relationship Id="rId4" Type="http://schemas.openxmlformats.org/officeDocument/2006/relationships/image" Target="../media/image4.png"/><Relationship Id="rId5" Type="http://schemas.openxmlformats.org/officeDocument/2006/relationships/image" Target="../media/image98.png"/><Relationship Id="rId6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99.wmf"/><Relationship Id="rId6" Type="http://schemas.openxmlformats.org/officeDocument/2006/relationships/image" Target="../media/image100.wmf"/><Relationship Id="rId7" Type="http://schemas.openxmlformats.org/officeDocument/2006/relationships/image" Target="../media/image101.wmf"/><Relationship Id="rId8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4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102.png"/><Relationship Id="rId2" Type="http://schemas.openxmlformats.org/officeDocument/2006/relationships/image" Target="../media/image102.png"/><Relationship Id="rId3" Type="http://schemas.openxmlformats.org/officeDocument/2006/relationships/image" Target="../media/image103.png"/><Relationship Id="rId4" Type="http://schemas.openxmlformats.org/officeDocument/2006/relationships/image" Target="../media/image102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Freeform 2"/>
          <p:cNvSpPr/>
          <p:nvPr/>
        </p:nvSpPr>
        <p:spPr>
          <a:xfrm>
            <a:off x="14565960" y="-491760"/>
            <a:ext cx="8754120" cy="8754120"/>
          </a:xfrm>
          <a:custGeom>
            <a:avLst/>
            <a:gdLst>
              <a:gd name="textAreaLeft" fmla="*/ 0 w 8754120"/>
              <a:gd name="textAreaRight" fmla="*/ 8754480 w 8754120"/>
              <a:gd name="textAreaTop" fmla="*/ 0 h 8754120"/>
              <a:gd name="textAreaBottom" fmla="*/ 8754480 h 8754120"/>
            </a:gdLst>
            <a:ahLst/>
            <a:rect l="textAreaLeft" t="textAreaTop" r="textAreaRight" b="textAreaBottom"/>
            <a:pathLst>
              <a:path w="8754599" h="8754599">
                <a:moveTo>
                  <a:pt x="0" y="0"/>
                </a:moveTo>
                <a:lnTo>
                  <a:pt x="8754598" y="0"/>
                </a:lnTo>
                <a:lnTo>
                  <a:pt x="8754598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76" name="Group 3"/>
          <p:cNvGrpSpPr/>
          <p:nvPr/>
        </p:nvGrpSpPr>
        <p:grpSpPr>
          <a:xfrm>
            <a:off x="12201480" y="5061960"/>
            <a:ext cx="5246280" cy="7494840"/>
            <a:chOff x="12201480" y="5061960"/>
            <a:chExt cx="5246280" cy="7494840"/>
          </a:xfrm>
        </p:grpSpPr>
        <p:sp>
          <p:nvSpPr>
            <p:cNvPr id="77" name="Freeform 4"/>
            <p:cNvSpPr/>
            <p:nvPr/>
          </p:nvSpPr>
          <p:spPr>
            <a:xfrm>
              <a:off x="12201480" y="5061960"/>
              <a:ext cx="5246280" cy="7494840"/>
            </a:xfrm>
            <a:custGeom>
              <a:avLst/>
              <a:gdLst>
                <a:gd name="textAreaLeft" fmla="*/ 0 w 5246280"/>
                <a:gd name="textAreaRight" fmla="*/ 5246640 w 5246280"/>
                <a:gd name="textAreaTop" fmla="*/ 0 h 7494840"/>
                <a:gd name="textAreaBottom" fmla="*/ 7495200 h 749484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78" name="Group 5"/>
          <p:cNvGrpSpPr/>
          <p:nvPr/>
        </p:nvGrpSpPr>
        <p:grpSpPr>
          <a:xfrm>
            <a:off x="12201840" y="5061960"/>
            <a:ext cx="5246280" cy="7494840"/>
            <a:chOff x="12201840" y="5061960"/>
            <a:chExt cx="5246280" cy="7494840"/>
          </a:xfrm>
        </p:grpSpPr>
        <p:sp>
          <p:nvSpPr>
            <p:cNvPr id="79" name="Freeform 6"/>
            <p:cNvSpPr/>
            <p:nvPr/>
          </p:nvSpPr>
          <p:spPr>
            <a:xfrm rot="10800000">
              <a:off x="12201840" y="5061960"/>
              <a:ext cx="5246280" cy="7494840"/>
            </a:xfrm>
            <a:custGeom>
              <a:avLst/>
              <a:gdLst>
                <a:gd name="textAreaLeft" fmla="*/ 0 w 5246280"/>
                <a:gd name="textAreaRight" fmla="*/ 5246640 w 5246280"/>
                <a:gd name="textAreaTop" fmla="*/ 0 h 7494840"/>
                <a:gd name="textAreaBottom" fmla="*/ 7495200 h 749484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80" name="Group 7"/>
          <p:cNvGrpSpPr/>
          <p:nvPr/>
        </p:nvGrpSpPr>
        <p:grpSpPr>
          <a:xfrm>
            <a:off x="9144360" y="6197400"/>
            <a:ext cx="2564280" cy="3663360"/>
            <a:chOff x="9144360" y="6197400"/>
            <a:chExt cx="2564280" cy="3663360"/>
          </a:xfrm>
        </p:grpSpPr>
        <p:sp>
          <p:nvSpPr>
            <p:cNvPr id="81" name="Freeform 8"/>
            <p:cNvSpPr/>
            <p:nvPr/>
          </p:nvSpPr>
          <p:spPr>
            <a:xfrm rot="10800000">
              <a:off x="9144360" y="6197400"/>
              <a:ext cx="2564280" cy="3663360"/>
            </a:xfrm>
            <a:custGeom>
              <a:avLst/>
              <a:gdLst>
                <a:gd name="textAreaLeft" fmla="*/ 0 w 2564280"/>
                <a:gd name="textAreaRight" fmla="*/ 2564640 w 2564280"/>
                <a:gd name="textAreaTop" fmla="*/ 0 h 3663360"/>
                <a:gd name="textAreaBottom" fmla="*/ 3663720 h 366336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82" name="Group 9"/>
          <p:cNvGrpSpPr/>
          <p:nvPr/>
        </p:nvGrpSpPr>
        <p:grpSpPr>
          <a:xfrm>
            <a:off x="15764040" y="-781920"/>
            <a:ext cx="1683720" cy="2405160"/>
            <a:chOff x="15764040" y="-781920"/>
            <a:chExt cx="1683720" cy="2405160"/>
          </a:xfrm>
        </p:grpSpPr>
        <p:sp>
          <p:nvSpPr>
            <p:cNvPr id="83" name="Freeform 10"/>
            <p:cNvSpPr/>
            <p:nvPr/>
          </p:nvSpPr>
          <p:spPr>
            <a:xfrm>
              <a:off x="15764040" y="-781920"/>
              <a:ext cx="1683720" cy="2405160"/>
            </a:xfrm>
            <a:custGeom>
              <a:avLst/>
              <a:gdLst>
                <a:gd name="textAreaLeft" fmla="*/ 0 w 1683720"/>
                <a:gd name="textAreaRight" fmla="*/ 1684080 w 1683720"/>
                <a:gd name="textAreaTop" fmla="*/ 0 h 2405160"/>
                <a:gd name="textAreaBottom" fmla="*/ 2405520 h 240516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84" name="Group 11"/>
          <p:cNvGrpSpPr/>
          <p:nvPr/>
        </p:nvGrpSpPr>
        <p:grpSpPr>
          <a:xfrm>
            <a:off x="8805240" y="-3450240"/>
            <a:ext cx="6752520" cy="9646560"/>
            <a:chOff x="8805240" y="-3450240"/>
            <a:chExt cx="6752520" cy="9646560"/>
          </a:xfrm>
        </p:grpSpPr>
        <p:sp>
          <p:nvSpPr>
            <p:cNvPr id="85" name="Freeform 12"/>
            <p:cNvSpPr/>
            <p:nvPr/>
          </p:nvSpPr>
          <p:spPr>
            <a:xfrm>
              <a:off x="8805240" y="-3450240"/>
              <a:ext cx="6752520" cy="9646560"/>
            </a:xfrm>
            <a:custGeom>
              <a:avLst/>
              <a:gdLst>
                <a:gd name="textAreaLeft" fmla="*/ 0 w 6752520"/>
                <a:gd name="textAreaRight" fmla="*/ 6752880 w 6752520"/>
                <a:gd name="textAreaTop" fmla="*/ 0 h 9646560"/>
                <a:gd name="textAreaBottom" fmla="*/ 9646920 h 964656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86" name="Group 13"/>
          <p:cNvGrpSpPr/>
          <p:nvPr/>
        </p:nvGrpSpPr>
        <p:grpSpPr>
          <a:xfrm>
            <a:off x="8805240" y="-3450240"/>
            <a:ext cx="6752520" cy="9646560"/>
            <a:chOff x="8805240" y="-3450240"/>
            <a:chExt cx="6752520" cy="9646560"/>
          </a:xfrm>
        </p:grpSpPr>
        <p:sp>
          <p:nvSpPr>
            <p:cNvPr id="87" name="Freeform 14"/>
            <p:cNvSpPr/>
            <p:nvPr/>
          </p:nvSpPr>
          <p:spPr>
            <a:xfrm>
              <a:off x="8805240" y="-3450240"/>
              <a:ext cx="6752520" cy="9646560"/>
            </a:xfrm>
            <a:custGeom>
              <a:avLst/>
              <a:gdLst>
                <a:gd name="textAreaLeft" fmla="*/ 0 w 6752520"/>
                <a:gd name="textAreaRight" fmla="*/ 6752880 w 6752520"/>
                <a:gd name="textAreaTop" fmla="*/ 0 h 9646560"/>
                <a:gd name="textAreaBottom" fmla="*/ 9646920 h 964656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88" name="Group 15"/>
          <p:cNvGrpSpPr/>
          <p:nvPr/>
        </p:nvGrpSpPr>
        <p:grpSpPr>
          <a:xfrm>
            <a:off x="16606440" y="3464640"/>
            <a:ext cx="841680" cy="841680"/>
            <a:chOff x="16606440" y="3464640"/>
            <a:chExt cx="841680" cy="841680"/>
          </a:xfrm>
        </p:grpSpPr>
        <p:sp>
          <p:nvSpPr>
            <p:cNvPr id="89" name="Freeform 16"/>
            <p:cNvSpPr/>
            <p:nvPr/>
          </p:nvSpPr>
          <p:spPr>
            <a:xfrm rot="5400000">
              <a:off x="16606440" y="3464640"/>
              <a:ext cx="841680" cy="841680"/>
            </a:xfrm>
            <a:custGeom>
              <a:avLst/>
              <a:gdLst>
                <a:gd name="textAreaLeft" fmla="*/ 0 w 841680"/>
                <a:gd name="textAreaRight" fmla="*/ 842040 w 841680"/>
                <a:gd name="textAreaTop" fmla="*/ 0 h 841680"/>
                <a:gd name="textAreaBottom" fmla="*/ 842040 h 84168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90" name="Freeform 17"/>
          <p:cNvSpPr/>
          <p:nvPr/>
        </p:nvSpPr>
        <p:spPr>
          <a:xfrm>
            <a:off x="-5976720" y="4306680"/>
            <a:ext cx="8754120" cy="8754120"/>
          </a:xfrm>
          <a:custGeom>
            <a:avLst/>
            <a:gdLst>
              <a:gd name="textAreaLeft" fmla="*/ 0 w 8754120"/>
              <a:gd name="textAreaRight" fmla="*/ 8754480 w 8754120"/>
              <a:gd name="textAreaTop" fmla="*/ 0 h 8754120"/>
              <a:gd name="textAreaBottom" fmla="*/ 8754480 h 8754120"/>
            </a:gdLst>
            <a:ahLst/>
            <a:rect l="textAreaLeft" t="textAreaTop" r="textAreaRight" b="textAreaBottom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1" name="TextBox 18"/>
          <p:cNvSpPr/>
          <p:nvPr/>
        </p:nvSpPr>
        <p:spPr>
          <a:xfrm>
            <a:off x="1573920" y="6964920"/>
            <a:ext cx="56894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Calibri"/>
              </a:rPr>
              <a:t>Group 2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2" name="TextBox 19"/>
          <p:cNvSpPr/>
          <p:nvPr/>
        </p:nvSpPr>
        <p:spPr>
          <a:xfrm>
            <a:off x="-1080" y="3919320"/>
            <a:ext cx="11810160" cy="14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466"/>
              </a:lnSpc>
            </a:pPr>
            <a:r>
              <a:rPr b="0" lang="en-US" sz="8000" strike="noStrike" u="none">
                <a:solidFill>
                  <a:schemeClr val="lt1"/>
                </a:solidFill>
                <a:uFillTx/>
                <a:latin typeface="Calibri"/>
              </a:rPr>
              <a:t>Purchasing Graduation</a:t>
            </a:r>
            <a:endParaRPr b="0" lang="en-US" sz="8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3" name="TextBox 20"/>
          <p:cNvSpPr/>
          <p:nvPr/>
        </p:nvSpPr>
        <p:spPr>
          <a:xfrm>
            <a:off x="2352960" y="5160240"/>
            <a:ext cx="7231320" cy="14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466"/>
              </a:lnSpc>
            </a:pPr>
            <a:r>
              <a:rPr b="1" lang="en-US" sz="7200" strike="noStrike" u="none">
                <a:solidFill>
                  <a:srgbClr val="17e3b2"/>
                </a:solidFill>
                <a:uFillTx/>
                <a:latin typeface="Almarai Bold"/>
                <a:ea typeface="Almarai Bold"/>
              </a:rPr>
              <a:t>PROJECT</a:t>
            </a:r>
            <a:endParaRPr b="0" lang="en-US" sz="7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94" name="Picture 2" descr="Oracle E-Business Suite ERP Solution Overview | Compare Oracle EBS ERP"/>
          <p:cNvPicPr/>
          <p:nvPr/>
        </p:nvPicPr>
        <p:blipFill>
          <a:blip r:embed="rId12"/>
          <a:stretch/>
        </p:blipFill>
        <p:spPr>
          <a:xfrm>
            <a:off x="9144000" y="1540440"/>
            <a:ext cx="5657040" cy="1760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96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97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98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99" name="Group 6"/>
          <p:cNvGrpSpPr/>
          <p:nvPr/>
        </p:nvGrpSpPr>
        <p:grpSpPr>
          <a:xfrm>
            <a:off x="1028880" y="1028880"/>
            <a:ext cx="5760360" cy="8229240"/>
            <a:chOff x="1028880" y="1028880"/>
            <a:chExt cx="5760360" cy="8229240"/>
          </a:xfrm>
        </p:grpSpPr>
        <p:sp>
          <p:nvSpPr>
            <p:cNvPr id="100" name="Freeform 7"/>
            <p:cNvSpPr/>
            <p:nvPr/>
          </p:nvSpPr>
          <p:spPr>
            <a:xfrm>
              <a:off x="1028880" y="1028880"/>
              <a:ext cx="5760360" cy="8229240"/>
            </a:xfrm>
            <a:custGeom>
              <a:avLst/>
              <a:gdLst>
                <a:gd name="textAreaLeft" fmla="*/ 0 w 5760360"/>
                <a:gd name="textAreaRight" fmla="*/ 5760720 w 5760360"/>
                <a:gd name="textAreaTop" fmla="*/ 0 h 8229240"/>
                <a:gd name="textAreaBottom" fmla="*/ 8229600 h 822924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3">
                <a:alphaModFix amt="2400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01" name="Group 8"/>
          <p:cNvGrpSpPr/>
          <p:nvPr/>
        </p:nvGrpSpPr>
        <p:grpSpPr>
          <a:xfrm>
            <a:off x="1029240" y="1029240"/>
            <a:ext cx="5760360" cy="8229240"/>
            <a:chOff x="1029240" y="1029240"/>
            <a:chExt cx="5760360" cy="8229240"/>
          </a:xfrm>
        </p:grpSpPr>
        <p:sp>
          <p:nvSpPr>
            <p:cNvPr id="102" name="Freeform 9"/>
            <p:cNvSpPr/>
            <p:nvPr/>
          </p:nvSpPr>
          <p:spPr>
            <a:xfrm rot="10800000">
              <a:off x="1029240" y="1029240"/>
              <a:ext cx="5760360" cy="8229240"/>
            </a:xfrm>
            <a:custGeom>
              <a:avLst/>
              <a:gdLst>
                <a:gd name="textAreaLeft" fmla="*/ 0 w 5760360"/>
                <a:gd name="textAreaRight" fmla="*/ 5760720 w 5760360"/>
                <a:gd name="textAreaTop" fmla="*/ 0 h 8229240"/>
                <a:gd name="textAreaBottom" fmla="*/ 8229600 h 822924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03" name="TextBox 10"/>
          <p:cNvSpPr/>
          <p:nvPr/>
        </p:nvSpPr>
        <p:spPr>
          <a:xfrm>
            <a:off x="1853280" y="4653000"/>
            <a:ext cx="4646520" cy="193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603"/>
              </a:lnSpc>
              <a:tabLst>
                <a:tab algn="l" pos="0"/>
              </a:tabLst>
            </a:pPr>
            <a:r>
              <a:rPr b="1" lang="en-US" sz="634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OVERVIEW</a:t>
            </a:r>
            <a:endParaRPr b="0" lang="en-US" sz="634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4" name="TextBox 11"/>
          <p:cNvSpPr/>
          <p:nvPr/>
        </p:nvSpPr>
        <p:spPr>
          <a:xfrm>
            <a:off x="9601200" y="3241800"/>
            <a:ext cx="217620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481"/>
              </a:lnSpc>
            </a:pPr>
            <a:r>
              <a:rPr b="1" lang="en-US" sz="2800" strike="noStrike" u="none">
                <a:solidFill>
                  <a:schemeClr val="lt1"/>
                </a:solidFill>
                <a:uFillTx/>
                <a:latin typeface="DeepSeek-CJK-patch"/>
              </a:rPr>
              <a:t>Overview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105" name="Group 12"/>
          <p:cNvGrpSpPr/>
          <p:nvPr/>
        </p:nvGrpSpPr>
        <p:grpSpPr>
          <a:xfrm>
            <a:off x="10023480" y="1708200"/>
            <a:ext cx="1334520" cy="1334520"/>
            <a:chOff x="10023480" y="1708200"/>
            <a:chExt cx="1334520" cy="1334520"/>
          </a:xfrm>
        </p:grpSpPr>
        <p:sp>
          <p:nvSpPr>
            <p:cNvPr id="106" name="Freeform 13"/>
            <p:cNvSpPr/>
            <p:nvPr/>
          </p:nvSpPr>
          <p:spPr>
            <a:xfrm rot="5400000">
              <a:off x="10023480" y="1708200"/>
              <a:ext cx="1334520" cy="1334520"/>
            </a:xfrm>
            <a:custGeom>
              <a:avLst/>
              <a:gdLst>
                <a:gd name="textAreaLeft" fmla="*/ 0 w 1334520"/>
                <a:gd name="textAreaRight" fmla="*/ 1334880 w 1334520"/>
                <a:gd name="textAreaTop" fmla="*/ 0 h 1334520"/>
                <a:gd name="textAreaBottom" fmla="*/ 1334880 h 13345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07" name="Group 14"/>
          <p:cNvGrpSpPr/>
          <p:nvPr/>
        </p:nvGrpSpPr>
        <p:grpSpPr>
          <a:xfrm>
            <a:off x="13304520" y="5570640"/>
            <a:ext cx="1334520" cy="1334520"/>
            <a:chOff x="13304520" y="5570640"/>
            <a:chExt cx="1334520" cy="1334520"/>
          </a:xfrm>
        </p:grpSpPr>
        <p:sp>
          <p:nvSpPr>
            <p:cNvPr id="108" name="Freeform 15"/>
            <p:cNvSpPr/>
            <p:nvPr/>
          </p:nvSpPr>
          <p:spPr>
            <a:xfrm rot="5400000">
              <a:off x="13304520" y="5570640"/>
              <a:ext cx="1334520" cy="1334520"/>
            </a:xfrm>
            <a:custGeom>
              <a:avLst/>
              <a:gdLst>
                <a:gd name="textAreaLeft" fmla="*/ 0 w 1334520"/>
                <a:gd name="textAreaRight" fmla="*/ 1334880 w 1334520"/>
                <a:gd name="textAreaTop" fmla="*/ 0 h 1334520"/>
                <a:gd name="textAreaBottom" fmla="*/ 1334880 h 13345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09" name="Group 16"/>
          <p:cNvGrpSpPr/>
          <p:nvPr/>
        </p:nvGrpSpPr>
        <p:grpSpPr>
          <a:xfrm>
            <a:off x="8739720" y="5448600"/>
            <a:ext cx="1334520" cy="1334520"/>
            <a:chOff x="8739720" y="5448600"/>
            <a:chExt cx="1334520" cy="1334520"/>
          </a:xfrm>
        </p:grpSpPr>
        <p:sp>
          <p:nvSpPr>
            <p:cNvPr id="110" name="Freeform 17"/>
            <p:cNvSpPr/>
            <p:nvPr/>
          </p:nvSpPr>
          <p:spPr>
            <a:xfrm rot="5400000">
              <a:off x="8739720" y="5448600"/>
              <a:ext cx="1334520" cy="1334520"/>
            </a:xfrm>
            <a:custGeom>
              <a:avLst/>
              <a:gdLst>
                <a:gd name="textAreaLeft" fmla="*/ 0 w 1334520"/>
                <a:gd name="textAreaRight" fmla="*/ 1334880 w 1334520"/>
                <a:gd name="textAreaTop" fmla="*/ 0 h 1334520"/>
                <a:gd name="textAreaBottom" fmla="*/ 1334880 h 13345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11" name="Group 18"/>
          <p:cNvGrpSpPr/>
          <p:nvPr/>
        </p:nvGrpSpPr>
        <p:grpSpPr>
          <a:xfrm>
            <a:off x="14074200" y="1803960"/>
            <a:ext cx="1334520" cy="1334520"/>
            <a:chOff x="14074200" y="1803960"/>
            <a:chExt cx="1334520" cy="1334520"/>
          </a:xfrm>
        </p:grpSpPr>
        <p:sp>
          <p:nvSpPr>
            <p:cNvPr id="112" name="Freeform 19"/>
            <p:cNvSpPr/>
            <p:nvPr/>
          </p:nvSpPr>
          <p:spPr>
            <a:xfrm rot="5400000">
              <a:off x="14074200" y="1803960"/>
              <a:ext cx="1334520" cy="1334520"/>
            </a:xfrm>
            <a:custGeom>
              <a:avLst/>
              <a:gdLst>
                <a:gd name="textAreaLeft" fmla="*/ 0 w 1334520"/>
                <a:gd name="textAreaRight" fmla="*/ 1334880 w 1334520"/>
                <a:gd name="textAreaTop" fmla="*/ 0 h 1334520"/>
                <a:gd name="textAreaBottom" fmla="*/ 1334880 h 13345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13" name="Group 20"/>
          <p:cNvGrpSpPr/>
          <p:nvPr/>
        </p:nvGrpSpPr>
        <p:grpSpPr>
          <a:xfrm>
            <a:off x="16084440" y="5523480"/>
            <a:ext cx="1334520" cy="1334520"/>
            <a:chOff x="16084440" y="5523480"/>
            <a:chExt cx="1334520" cy="1334520"/>
          </a:xfrm>
        </p:grpSpPr>
        <p:sp>
          <p:nvSpPr>
            <p:cNvPr id="114" name="Freeform 21"/>
            <p:cNvSpPr/>
            <p:nvPr/>
          </p:nvSpPr>
          <p:spPr>
            <a:xfrm rot="5400000">
              <a:off x="16084440" y="5523480"/>
              <a:ext cx="1334520" cy="1334520"/>
            </a:xfrm>
            <a:custGeom>
              <a:avLst/>
              <a:gdLst>
                <a:gd name="textAreaLeft" fmla="*/ 0 w 1334520"/>
                <a:gd name="textAreaRight" fmla="*/ 1334880 w 1334520"/>
                <a:gd name="textAreaTop" fmla="*/ 0 h 1334520"/>
                <a:gd name="textAreaBottom" fmla="*/ 1334880 h 13345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15" name="Group 22"/>
          <p:cNvGrpSpPr/>
          <p:nvPr/>
        </p:nvGrpSpPr>
        <p:grpSpPr>
          <a:xfrm>
            <a:off x="7474320" y="8144280"/>
            <a:ext cx="1334520" cy="1334520"/>
            <a:chOff x="7474320" y="8144280"/>
            <a:chExt cx="1334520" cy="1334520"/>
          </a:xfrm>
        </p:grpSpPr>
        <p:sp>
          <p:nvSpPr>
            <p:cNvPr id="116" name="Freeform 23"/>
            <p:cNvSpPr/>
            <p:nvPr/>
          </p:nvSpPr>
          <p:spPr>
            <a:xfrm rot="5400000">
              <a:off x="7474320" y="8144280"/>
              <a:ext cx="1334520" cy="1334520"/>
            </a:xfrm>
            <a:custGeom>
              <a:avLst/>
              <a:gdLst>
                <a:gd name="textAreaLeft" fmla="*/ 0 w 1334520"/>
                <a:gd name="textAreaRight" fmla="*/ 1334880 w 1334520"/>
                <a:gd name="textAreaTop" fmla="*/ 0 h 1334520"/>
                <a:gd name="textAreaBottom" fmla="*/ 1334880 h 13345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1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17" name="TextBox 24"/>
          <p:cNvSpPr/>
          <p:nvPr/>
        </p:nvSpPr>
        <p:spPr>
          <a:xfrm>
            <a:off x="9896040" y="1863000"/>
            <a:ext cx="158652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430"/>
              </a:lnSpc>
            </a:pPr>
            <a:r>
              <a:rPr b="1" lang="en-US" sz="539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a.</a:t>
            </a:r>
            <a:endParaRPr b="0" lang="en-US" sz="539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8" name="TextBox 27"/>
          <p:cNvSpPr/>
          <p:nvPr/>
        </p:nvSpPr>
        <p:spPr>
          <a:xfrm>
            <a:off x="13239000" y="5763600"/>
            <a:ext cx="158652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430"/>
              </a:lnSpc>
            </a:pPr>
            <a:r>
              <a:rPr b="1" lang="en-US" sz="539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c.</a:t>
            </a:r>
            <a:endParaRPr b="0" lang="en-US" sz="539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9" name="TextBox 28"/>
          <p:cNvSpPr/>
          <p:nvPr/>
        </p:nvSpPr>
        <p:spPr>
          <a:xfrm>
            <a:off x="8612280" y="5603400"/>
            <a:ext cx="158652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430"/>
              </a:lnSpc>
            </a:pPr>
            <a:r>
              <a:rPr b="1" lang="en-US" sz="539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a.</a:t>
            </a:r>
            <a:endParaRPr b="0" lang="en-US" sz="539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0" name="TextBox 30"/>
          <p:cNvSpPr/>
          <p:nvPr/>
        </p:nvSpPr>
        <p:spPr>
          <a:xfrm>
            <a:off x="13828680" y="1958760"/>
            <a:ext cx="158652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430"/>
              </a:lnSpc>
            </a:pPr>
            <a:r>
              <a:rPr b="1" lang="en-US" sz="539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c.</a:t>
            </a:r>
            <a:endParaRPr b="0" lang="en-US" sz="539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TextBox 31"/>
          <p:cNvSpPr/>
          <p:nvPr/>
        </p:nvSpPr>
        <p:spPr>
          <a:xfrm>
            <a:off x="15676200" y="6994080"/>
            <a:ext cx="2306520" cy="13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481"/>
              </a:lnSpc>
            </a:pPr>
            <a:r>
              <a:rPr b="1" lang="en-US" sz="253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Purchasing Configuration</a:t>
            </a:r>
            <a:endParaRPr b="0" lang="en-US" sz="25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2" name="TextBox 32"/>
          <p:cNvSpPr/>
          <p:nvPr/>
        </p:nvSpPr>
        <p:spPr>
          <a:xfrm>
            <a:off x="6934320" y="9592200"/>
            <a:ext cx="217620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481"/>
              </a:lnSpc>
            </a:pPr>
            <a:r>
              <a:rPr b="1" lang="en-US" sz="253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Our Team</a:t>
            </a:r>
            <a:endParaRPr b="0" lang="en-US" sz="25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3" name="TextBox 33"/>
          <p:cNvSpPr/>
          <p:nvPr/>
        </p:nvSpPr>
        <p:spPr>
          <a:xfrm>
            <a:off x="16025400" y="5723280"/>
            <a:ext cx="158652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430"/>
              </a:lnSpc>
            </a:pPr>
            <a:r>
              <a:rPr b="1" lang="en-US" sz="539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d.</a:t>
            </a:r>
            <a:endParaRPr b="0" lang="en-US" sz="539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4" name="TextBox 34"/>
          <p:cNvSpPr/>
          <p:nvPr/>
        </p:nvSpPr>
        <p:spPr>
          <a:xfrm>
            <a:off x="7277400" y="8351280"/>
            <a:ext cx="158652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430"/>
              </a:lnSpc>
            </a:pPr>
            <a:r>
              <a:rPr b="1" lang="en-US" sz="539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03</a:t>
            </a:r>
            <a:endParaRPr b="0" lang="en-US" sz="539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5" name="TextBox 35"/>
          <p:cNvSpPr/>
          <p:nvPr/>
        </p:nvSpPr>
        <p:spPr>
          <a:xfrm>
            <a:off x="7238880" y="2181240"/>
            <a:ext cx="2176200" cy="88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481"/>
              </a:lnSpc>
            </a:pPr>
            <a:r>
              <a:rPr b="1" lang="en-US" sz="253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Brief Introduction</a:t>
            </a:r>
            <a:endParaRPr b="0" lang="en-US" sz="25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126" name="Group 36"/>
          <p:cNvGrpSpPr/>
          <p:nvPr/>
        </p:nvGrpSpPr>
        <p:grpSpPr>
          <a:xfrm>
            <a:off x="7660080" y="647640"/>
            <a:ext cx="1334520" cy="1334520"/>
            <a:chOff x="7660080" y="647640"/>
            <a:chExt cx="1334520" cy="1334520"/>
          </a:xfrm>
        </p:grpSpPr>
        <p:sp>
          <p:nvSpPr>
            <p:cNvPr id="127" name="Freeform 37"/>
            <p:cNvSpPr/>
            <p:nvPr/>
          </p:nvSpPr>
          <p:spPr>
            <a:xfrm rot="5400000">
              <a:off x="7660080" y="647280"/>
              <a:ext cx="1334520" cy="1334520"/>
            </a:xfrm>
            <a:custGeom>
              <a:avLst/>
              <a:gdLst>
                <a:gd name="textAreaLeft" fmla="*/ 0 w 1334520"/>
                <a:gd name="textAreaRight" fmla="*/ 1334880 w 1334520"/>
                <a:gd name="textAreaTop" fmla="*/ 0 h 1334520"/>
                <a:gd name="textAreaBottom" fmla="*/ 1334880 h 13345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1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28" name="Group 38"/>
          <p:cNvGrpSpPr/>
          <p:nvPr/>
        </p:nvGrpSpPr>
        <p:grpSpPr>
          <a:xfrm>
            <a:off x="11061720" y="5508360"/>
            <a:ext cx="1334520" cy="1334520"/>
            <a:chOff x="11061720" y="5508360"/>
            <a:chExt cx="1334520" cy="1334520"/>
          </a:xfrm>
        </p:grpSpPr>
        <p:sp>
          <p:nvSpPr>
            <p:cNvPr id="129" name="Freeform 39"/>
            <p:cNvSpPr/>
            <p:nvPr/>
          </p:nvSpPr>
          <p:spPr>
            <a:xfrm rot="5400000">
              <a:off x="11061720" y="5508360"/>
              <a:ext cx="1334520" cy="1334520"/>
            </a:xfrm>
            <a:custGeom>
              <a:avLst/>
              <a:gdLst>
                <a:gd name="textAreaLeft" fmla="*/ 0 w 1334520"/>
                <a:gd name="textAreaRight" fmla="*/ 1334880 w 1334520"/>
                <a:gd name="textAreaTop" fmla="*/ 0 h 1334520"/>
                <a:gd name="textAreaBottom" fmla="*/ 1334880 h 13345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1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30" name="TextBox 42"/>
          <p:cNvSpPr/>
          <p:nvPr/>
        </p:nvSpPr>
        <p:spPr>
          <a:xfrm>
            <a:off x="7533720" y="802440"/>
            <a:ext cx="158652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430"/>
              </a:lnSpc>
            </a:pPr>
            <a:r>
              <a:rPr b="1" lang="en-US" sz="539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01</a:t>
            </a:r>
            <a:endParaRPr b="0" lang="en-US" sz="539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1" name="TextBox 43"/>
          <p:cNvSpPr/>
          <p:nvPr/>
        </p:nvSpPr>
        <p:spPr>
          <a:xfrm>
            <a:off x="11087280" y="6853320"/>
            <a:ext cx="1713960" cy="13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481"/>
              </a:lnSpc>
            </a:pPr>
            <a:r>
              <a:rPr b="1" lang="en-US" sz="253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System Configuration</a:t>
            </a:r>
            <a:endParaRPr b="0" lang="en-US" sz="25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2" name="TextBox 44"/>
          <p:cNvSpPr/>
          <p:nvPr/>
        </p:nvSpPr>
        <p:spPr>
          <a:xfrm>
            <a:off x="13030200" y="7056720"/>
            <a:ext cx="2599200" cy="88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481"/>
              </a:lnSpc>
            </a:pPr>
            <a:r>
              <a:rPr b="1" lang="en-US" sz="253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Inventory Setup</a:t>
            </a:r>
            <a:endParaRPr b="0" lang="en-US" sz="25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3" name="TextBox 45"/>
          <p:cNvSpPr/>
          <p:nvPr/>
        </p:nvSpPr>
        <p:spPr>
          <a:xfrm>
            <a:off x="11161080" y="5678280"/>
            <a:ext cx="158652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430"/>
              </a:lnSpc>
            </a:pPr>
            <a:r>
              <a:rPr b="1" lang="en-US" sz="539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b.</a:t>
            </a:r>
            <a:endParaRPr b="0" lang="en-US" sz="539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4" name="TextBox 29"/>
          <p:cNvSpPr/>
          <p:nvPr/>
        </p:nvSpPr>
        <p:spPr>
          <a:xfrm>
            <a:off x="8458200" y="6760440"/>
            <a:ext cx="2176200" cy="13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481"/>
              </a:lnSpc>
            </a:pPr>
            <a:r>
              <a:rPr b="1" lang="en-US" sz="2530" strike="noStrike" u="none">
                <a:solidFill>
                  <a:srgbClr val="ffffff"/>
                </a:solidFill>
                <a:uFillTx/>
                <a:latin typeface="Almarai Bold"/>
              </a:rPr>
              <a:t>Purchasing Module Setup </a:t>
            </a:r>
            <a:endParaRPr b="0" lang="en-US" sz="25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5" name="TextBox 11"/>
          <p:cNvSpPr/>
          <p:nvPr/>
        </p:nvSpPr>
        <p:spPr>
          <a:xfrm>
            <a:off x="11468880" y="3248280"/>
            <a:ext cx="217620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481"/>
              </a:lnSpc>
            </a:pPr>
            <a:r>
              <a:rPr b="1" lang="en-US" sz="2800" strike="noStrike" u="none">
                <a:solidFill>
                  <a:schemeClr val="lt1"/>
                </a:solidFill>
                <a:uFillTx/>
                <a:latin typeface="DeepSeek-CJK-patch"/>
              </a:rPr>
              <a:t>Purpose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136" name="Group 12"/>
          <p:cNvGrpSpPr/>
          <p:nvPr/>
        </p:nvGrpSpPr>
        <p:grpSpPr>
          <a:xfrm>
            <a:off x="11891160" y="1714680"/>
            <a:ext cx="1334520" cy="1334520"/>
            <a:chOff x="11891160" y="1714680"/>
            <a:chExt cx="1334520" cy="1334520"/>
          </a:xfrm>
        </p:grpSpPr>
        <p:sp>
          <p:nvSpPr>
            <p:cNvPr id="137" name="Freeform 13"/>
            <p:cNvSpPr/>
            <p:nvPr/>
          </p:nvSpPr>
          <p:spPr>
            <a:xfrm rot="5400000">
              <a:off x="11891160" y="1714680"/>
              <a:ext cx="1334520" cy="1334520"/>
            </a:xfrm>
            <a:custGeom>
              <a:avLst/>
              <a:gdLst>
                <a:gd name="textAreaLeft" fmla="*/ 0 w 1334520"/>
                <a:gd name="textAreaRight" fmla="*/ 1334880 w 1334520"/>
                <a:gd name="textAreaTop" fmla="*/ 0 h 1334520"/>
                <a:gd name="textAreaBottom" fmla="*/ 1334880 h 13345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1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38" name="TextBox 24"/>
          <p:cNvSpPr/>
          <p:nvPr/>
        </p:nvSpPr>
        <p:spPr>
          <a:xfrm>
            <a:off x="11763720" y="1869120"/>
            <a:ext cx="158652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430"/>
              </a:lnSpc>
            </a:pPr>
            <a:r>
              <a:rPr b="1" lang="en-US" sz="539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b.</a:t>
            </a:r>
            <a:endParaRPr b="0" lang="en-US" sz="539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11"/>
          <p:cNvSpPr/>
          <p:nvPr/>
        </p:nvSpPr>
        <p:spPr>
          <a:xfrm>
            <a:off x="13648320" y="3241800"/>
            <a:ext cx="2176200" cy="88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481"/>
              </a:lnSpc>
            </a:pPr>
            <a:r>
              <a:rPr b="1" lang="en-US" sz="2800" strike="noStrike" u="none">
                <a:solidFill>
                  <a:schemeClr val="lt1"/>
                </a:solidFill>
                <a:uFillTx/>
                <a:latin typeface="DeepSeek-CJK-patch"/>
              </a:rPr>
              <a:t>Key Features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140" name="Group 18"/>
          <p:cNvGrpSpPr/>
          <p:nvPr/>
        </p:nvGrpSpPr>
        <p:grpSpPr>
          <a:xfrm>
            <a:off x="16156440" y="1790640"/>
            <a:ext cx="1334520" cy="1334520"/>
            <a:chOff x="16156440" y="1790640"/>
            <a:chExt cx="1334520" cy="1334520"/>
          </a:xfrm>
        </p:grpSpPr>
        <p:sp>
          <p:nvSpPr>
            <p:cNvPr id="141" name="Freeform 19"/>
            <p:cNvSpPr/>
            <p:nvPr/>
          </p:nvSpPr>
          <p:spPr>
            <a:xfrm rot="5400000">
              <a:off x="16156440" y="1790640"/>
              <a:ext cx="1334520" cy="1334520"/>
            </a:xfrm>
            <a:custGeom>
              <a:avLst/>
              <a:gdLst>
                <a:gd name="textAreaLeft" fmla="*/ 0 w 1334520"/>
                <a:gd name="textAreaRight" fmla="*/ 1334880 w 1334520"/>
                <a:gd name="textAreaTop" fmla="*/ 0 h 1334520"/>
                <a:gd name="textAreaBottom" fmla="*/ 1334880 h 13345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1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42" name="TextBox 30"/>
          <p:cNvSpPr/>
          <p:nvPr/>
        </p:nvSpPr>
        <p:spPr>
          <a:xfrm>
            <a:off x="15910920" y="1945440"/>
            <a:ext cx="158652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430"/>
              </a:lnSpc>
            </a:pPr>
            <a:r>
              <a:rPr b="1" lang="en-US" sz="539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d.</a:t>
            </a:r>
            <a:endParaRPr b="0" lang="en-US" sz="539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3" name="TextBox 11"/>
          <p:cNvSpPr/>
          <p:nvPr/>
        </p:nvSpPr>
        <p:spPr>
          <a:xfrm>
            <a:off x="15730560" y="3228480"/>
            <a:ext cx="2176200" cy="88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481"/>
              </a:lnSpc>
            </a:pPr>
            <a:r>
              <a:rPr b="1" lang="en-US" sz="2800" strike="noStrike" u="none">
                <a:solidFill>
                  <a:schemeClr val="lt1"/>
                </a:solidFill>
                <a:uFillTx/>
                <a:latin typeface="DeepSeek-CJK-patch"/>
              </a:rPr>
              <a:t>Business Benefits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4" name="TextBox 35"/>
          <p:cNvSpPr/>
          <p:nvPr/>
        </p:nvSpPr>
        <p:spPr>
          <a:xfrm>
            <a:off x="7276320" y="4609800"/>
            <a:ext cx="3963960" cy="193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603"/>
              </a:lnSpc>
            </a:pPr>
            <a:r>
              <a:rPr b="1" lang="en-US" sz="280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Project Implementation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145" name="Group 36"/>
          <p:cNvGrpSpPr/>
          <p:nvPr/>
        </p:nvGrpSpPr>
        <p:grpSpPr>
          <a:xfrm>
            <a:off x="7507800" y="3695760"/>
            <a:ext cx="1334520" cy="1334520"/>
            <a:chOff x="7507800" y="3695760"/>
            <a:chExt cx="1334520" cy="1334520"/>
          </a:xfrm>
        </p:grpSpPr>
        <p:sp>
          <p:nvSpPr>
            <p:cNvPr id="146" name="Freeform 37"/>
            <p:cNvSpPr/>
            <p:nvPr/>
          </p:nvSpPr>
          <p:spPr>
            <a:xfrm rot="5400000">
              <a:off x="7507800" y="3695760"/>
              <a:ext cx="1334520" cy="1334520"/>
            </a:xfrm>
            <a:custGeom>
              <a:avLst/>
              <a:gdLst>
                <a:gd name="textAreaLeft" fmla="*/ 0 w 1334520"/>
                <a:gd name="textAreaRight" fmla="*/ 1334880 w 1334520"/>
                <a:gd name="textAreaTop" fmla="*/ 0 h 1334520"/>
                <a:gd name="textAreaBottom" fmla="*/ 1334880 h 13345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1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47" name="TextBox 42"/>
          <p:cNvSpPr/>
          <p:nvPr/>
        </p:nvSpPr>
        <p:spPr>
          <a:xfrm>
            <a:off x="7381440" y="3850560"/>
            <a:ext cx="158652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430"/>
              </a:lnSpc>
            </a:pPr>
            <a:r>
              <a:rPr b="1" lang="en-US" sz="539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02</a:t>
            </a:r>
            <a:endParaRPr b="0" lang="en-US" sz="539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149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50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151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52" name="Group 6"/>
          <p:cNvGrpSpPr/>
          <p:nvPr/>
        </p:nvGrpSpPr>
        <p:grpSpPr>
          <a:xfrm>
            <a:off x="1028880" y="1028880"/>
            <a:ext cx="5760360" cy="8229240"/>
            <a:chOff x="1028880" y="1028880"/>
            <a:chExt cx="5760360" cy="8229240"/>
          </a:xfrm>
        </p:grpSpPr>
        <p:sp>
          <p:nvSpPr>
            <p:cNvPr id="153" name="Freeform 7"/>
            <p:cNvSpPr/>
            <p:nvPr/>
          </p:nvSpPr>
          <p:spPr>
            <a:xfrm>
              <a:off x="1028880" y="1028880"/>
              <a:ext cx="5760360" cy="8229240"/>
            </a:xfrm>
            <a:custGeom>
              <a:avLst/>
              <a:gdLst>
                <a:gd name="textAreaLeft" fmla="*/ 0 w 5760360"/>
                <a:gd name="textAreaRight" fmla="*/ 5760720 w 5760360"/>
                <a:gd name="textAreaTop" fmla="*/ 0 h 8229240"/>
                <a:gd name="textAreaBottom" fmla="*/ 8229600 h 822924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3">
                <a:alphaModFix amt="2400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54" name="Group 8"/>
          <p:cNvGrpSpPr/>
          <p:nvPr/>
        </p:nvGrpSpPr>
        <p:grpSpPr>
          <a:xfrm>
            <a:off x="1029240" y="1029240"/>
            <a:ext cx="5760360" cy="8229240"/>
            <a:chOff x="1029240" y="1029240"/>
            <a:chExt cx="5760360" cy="8229240"/>
          </a:xfrm>
        </p:grpSpPr>
        <p:sp>
          <p:nvSpPr>
            <p:cNvPr id="155" name="Freeform 9"/>
            <p:cNvSpPr/>
            <p:nvPr/>
          </p:nvSpPr>
          <p:spPr>
            <a:xfrm rot="10800000">
              <a:off x="1029240" y="1029240"/>
              <a:ext cx="5760360" cy="8229240"/>
            </a:xfrm>
            <a:custGeom>
              <a:avLst/>
              <a:gdLst>
                <a:gd name="textAreaLeft" fmla="*/ 0 w 5760360"/>
                <a:gd name="textAreaRight" fmla="*/ 5760720 w 5760360"/>
                <a:gd name="textAreaTop" fmla="*/ 0 h 8229240"/>
                <a:gd name="textAreaBottom" fmla="*/ 8229600 h 822924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56" name="TextBox 10"/>
          <p:cNvSpPr/>
          <p:nvPr/>
        </p:nvSpPr>
        <p:spPr>
          <a:xfrm>
            <a:off x="998280" y="2552760"/>
            <a:ext cx="5760360" cy="28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603"/>
              </a:lnSpc>
            </a:pPr>
            <a:r>
              <a:rPr b="1" lang="en-US" sz="660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Brief Introduction</a:t>
            </a:r>
            <a:endParaRPr b="0" lang="en-US" sz="6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 defTabSz="914400">
              <a:lnSpc>
                <a:spcPts val="7603"/>
              </a:lnSpc>
              <a:tabLst>
                <a:tab algn="l" pos="0"/>
              </a:tabLst>
            </a:pPr>
            <a:endParaRPr b="0" lang="en-US" sz="634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57" name="Picture 2" descr="Oracle E-Business Suite ERP Solution Overview | Compare Oracle EBS ERP"/>
          <p:cNvPicPr/>
          <p:nvPr/>
        </p:nvPicPr>
        <p:blipFill>
          <a:blip r:embed="rId5"/>
          <a:stretch/>
        </p:blipFill>
        <p:spPr>
          <a:xfrm>
            <a:off x="1049760" y="4726800"/>
            <a:ext cx="5657040" cy="176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TextBox 47"/>
          <p:cNvSpPr/>
          <p:nvPr/>
        </p:nvSpPr>
        <p:spPr>
          <a:xfrm>
            <a:off x="1592640" y="6927480"/>
            <a:ext cx="48765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4000" strike="noStrike" u="none">
                <a:solidFill>
                  <a:schemeClr val="lt1"/>
                </a:solidFill>
                <a:uFillTx/>
                <a:latin typeface="Calibri"/>
              </a:rPr>
              <a:t>Purchasing Module</a:t>
            </a:r>
            <a:endParaRPr b="0" lang="en-US" sz="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Freeform 8"/>
          <p:cNvSpPr/>
          <p:nvPr/>
        </p:nvSpPr>
        <p:spPr>
          <a:xfrm>
            <a:off x="5577120" y="3531600"/>
            <a:ext cx="721440" cy="1044360"/>
          </a:xfrm>
          <a:custGeom>
            <a:avLst/>
            <a:gdLst>
              <a:gd name="textAreaLeft" fmla="*/ 0 w 721440"/>
              <a:gd name="textAreaRight" fmla="*/ 721800 w 721440"/>
              <a:gd name="textAreaTop" fmla="*/ 0 h 1044360"/>
              <a:gd name="textAreaBottom" fmla="*/ 1044720 h 1044360"/>
            </a:gdLst>
            <a:ahLst/>
            <a:rect l="textAreaLeft" t="textAreaTop" r="textAreaRight" b="textAreaBottom"/>
            <a:pathLst>
              <a:path w="721898" h="1044852">
                <a:moveTo>
                  <a:pt x="0" y="0"/>
                </a:moveTo>
                <a:lnTo>
                  <a:pt x="721898" y="0"/>
                </a:lnTo>
                <a:lnTo>
                  <a:pt x="721898" y="1044852"/>
                </a:lnTo>
                <a:lnTo>
                  <a:pt x="0" y="10448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60" name="Freeform 9"/>
          <p:cNvSpPr/>
          <p:nvPr/>
        </p:nvSpPr>
        <p:spPr>
          <a:xfrm>
            <a:off x="11053800" y="3531600"/>
            <a:ext cx="1029600" cy="1040760"/>
          </a:xfrm>
          <a:custGeom>
            <a:avLst/>
            <a:gdLst>
              <a:gd name="textAreaLeft" fmla="*/ 0 w 1029600"/>
              <a:gd name="textAreaRight" fmla="*/ 1029960 w 1029600"/>
              <a:gd name="textAreaTop" fmla="*/ 0 h 1040760"/>
              <a:gd name="textAreaBottom" fmla="*/ 1041120 h 1040760"/>
            </a:gdLst>
            <a:ahLst/>
            <a:rect l="textAreaLeft" t="textAreaTop" r="textAreaRight" b="textAreaBottom"/>
            <a:pathLst>
              <a:path w="1029822" h="1041181">
                <a:moveTo>
                  <a:pt x="0" y="0"/>
                </a:moveTo>
                <a:lnTo>
                  <a:pt x="1029823" y="0"/>
                </a:lnTo>
                <a:lnTo>
                  <a:pt x="1029823" y="1041181"/>
                </a:lnTo>
                <a:lnTo>
                  <a:pt x="0" y="104118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161" name="Group 10"/>
          <p:cNvGrpSpPr/>
          <p:nvPr/>
        </p:nvGrpSpPr>
        <p:grpSpPr>
          <a:xfrm>
            <a:off x="15966720" y="9258840"/>
            <a:ext cx="13457520" cy="3263760"/>
            <a:chOff x="15966720" y="9258840"/>
            <a:chExt cx="13457520" cy="3263760"/>
          </a:xfrm>
        </p:grpSpPr>
        <p:sp>
          <p:nvSpPr>
            <p:cNvPr id="162" name="Freeform 11"/>
            <p:cNvSpPr/>
            <p:nvPr/>
          </p:nvSpPr>
          <p:spPr>
            <a:xfrm rot="10800000">
              <a:off x="26312400" y="9410760"/>
              <a:ext cx="3111840" cy="3111840"/>
            </a:xfrm>
            <a:custGeom>
              <a:avLst/>
              <a:gdLst>
                <a:gd name="textAreaLeft" fmla="*/ 0 w 3111840"/>
                <a:gd name="textAreaRight" fmla="*/ 3112200 w 3111840"/>
                <a:gd name="textAreaTop" fmla="*/ 0 h 3111840"/>
                <a:gd name="textAreaBottom" fmla="*/ 3112200 h 3111840"/>
              </a:gdLst>
              <a:ahLst/>
              <a:rect l="textAreaLeft" t="textAreaTop" r="textAreaRight" b="textAreaBottom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63" name="Freeform 12"/>
            <p:cNvSpPr/>
            <p:nvPr/>
          </p:nvSpPr>
          <p:spPr>
            <a:xfrm rot="10800000">
              <a:off x="22862520" y="9410760"/>
              <a:ext cx="3111840" cy="2465640"/>
            </a:xfrm>
            <a:custGeom>
              <a:avLst/>
              <a:gdLst>
                <a:gd name="textAreaLeft" fmla="*/ 0 w 3111840"/>
                <a:gd name="textAreaRight" fmla="*/ 3112200 w 3111840"/>
                <a:gd name="textAreaTop" fmla="*/ 0 h 2465640"/>
                <a:gd name="textAreaBottom" fmla="*/ 2466000 h 2465640"/>
              </a:gdLst>
              <a:ahLst/>
              <a:rect l="textAreaLeft" t="textAreaTop" r="textAreaRight" b="textAreaBottom"/>
              <a:pathLst>
                <a:path w="4149650" h="3288079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64" name="Freeform 13"/>
            <p:cNvSpPr/>
            <p:nvPr/>
          </p:nvSpPr>
          <p:spPr>
            <a:xfrm rot="10800000">
              <a:off x="19416960" y="9258840"/>
              <a:ext cx="3111840" cy="3111840"/>
            </a:xfrm>
            <a:custGeom>
              <a:avLst/>
              <a:gdLst>
                <a:gd name="textAreaLeft" fmla="*/ 0 w 3111840"/>
                <a:gd name="textAreaRight" fmla="*/ 3112200 w 3111840"/>
                <a:gd name="textAreaTop" fmla="*/ 0 h 3111840"/>
                <a:gd name="textAreaBottom" fmla="*/ 3112200 h 3111840"/>
              </a:gdLst>
              <a:ahLst/>
              <a:rect l="textAreaLeft" t="textAreaTop" r="textAreaRight" b="textAreaBottom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65" name="Freeform 14"/>
            <p:cNvSpPr/>
            <p:nvPr/>
          </p:nvSpPr>
          <p:spPr>
            <a:xfrm rot="10800000">
              <a:off x="15966720" y="9258840"/>
              <a:ext cx="3111840" cy="2465640"/>
            </a:xfrm>
            <a:custGeom>
              <a:avLst/>
              <a:gdLst>
                <a:gd name="textAreaLeft" fmla="*/ 0 w 3111840"/>
                <a:gd name="textAreaRight" fmla="*/ 3112200 w 3111840"/>
                <a:gd name="textAreaTop" fmla="*/ 0 h 2465640"/>
                <a:gd name="textAreaBottom" fmla="*/ 2466000 h 2465640"/>
              </a:gdLst>
              <a:ahLst/>
              <a:rect l="textAreaLeft" t="textAreaTop" r="textAreaRight" b="textAreaBottom"/>
              <a:pathLst>
                <a:path w="4149650" h="3288079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66" name="Freeform 15"/>
          <p:cNvSpPr/>
          <p:nvPr/>
        </p:nvSpPr>
        <p:spPr>
          <a:xfrm>
            <a:off x="14613840" y="-4787280"/>
            <a:ext cx="8754120" cy="8754120"/>
          </a:xfrm>
          <a:custGeom>
            <a:avLst/>
            <a:gdLst>
              <a:gd name="textAreaLeft" fmla="*/ 0 w 8754120"/>
              <a:gd name="textAreaRight" fmla="*/ 8754480 w 8754120"/>
              <a:gd name="textAreaTop" fmla="*/ 0 h 8754120"/>
              <a:gd name="textAreaBottom" fmla="*/ 8754480 h 8754120"/>
            </a:gdLst>
            <a:ahLst/>
            <a:rect l="textAreaLeft" t="textAreaTop" r="textAreaRight" b="textAreaBottom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167" name="Group 16"/>
          <p:cNvGrpSpPr/>
          <p:nvPr/>
        </p:nvGrpSpPr>
        <p:grpSpPr>
          <a:xfrm>
            <a:off x="15764040" y="-781920"/>
            <a:ext cx="1683720" cy="2405160"/>
            <a:chOff x="15764040" y="-781920"/>
            <a:chExt cx="1683720" cy="2405160"/>
          </a:xfrm>
        </p:grpSpPr>
        <p:sp>
          <p:nvSpPr>
            <p:cNvPr id="168" name="Freeform 17"/>
            <p:cNvSpPr/>
            <p:nvPr/>
          </p:nvSpPr>
          <p:spPr>
            <a:xfrm>
              <a:off x="15764040" y="-781920"/>
              <a:ext cx="1683720" cy="2405160"/>
            </a:xfrm>
            <a:custGeom>
              <a:avLst/>
              <a:gdLst>
                <a:gd name="textAreaLeft" fmla="*/ 0 w 1683720"/>
                <a:gd name="textAreaRight" fmla="*/ 1684080 w 1683720"/>
                <a:gd name="textAreaTop" fmla="*/ 0 h 2405160"/>
                <a:gd name="textAreaBottom" fmla="*/ 2405520 h 240516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69" name="Group 18"/>
          <p:cNvGrpSpPr/>
          <p:nvPr/>
        </p:nvGrpSpPr>
        <p:grpSpPr>
          <a:xfrm>
            <a:off x="796320" y="7930440"/>
            <a:ext cx="1683720" cy="2405160"/>
            <a:chOff x="796320" y="7930440"/>
            <a:chExt cx="1683720" cy="2405160"/>
          </a:xfrm>
        </p:grpSpPr>
        <p:sp>
          <p:nvSpPr>
            <p:cNvPr id="170" name="Freeform 19"/>
            <p:cNvSpPr/>
            <p:nvPr/>
          </p:nvSpPr>
          <p:spPr>
            <a:xfrm rot="10800000">
              <a:off x="796320" y="7930440"/>
              <a:ext cx="1683720" cy="2405160"/>
            </a:xfrm>
            <a:custGeom>
              <a:avLst/>
              <a:gdLst>
                <a:gd name="textAreaLeft" fmla="*/ 0 w 1683720"/>
                <a:gd name="textAreaRight" fmla="*/ 1684080 w 1683720"/>
                <a:gd name="textAreaTop" fmla="*/ 0 h 2405160"/>
                <a:gd name="textAreaBottom" fmla="*/ 2405520 h 240516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71" name="Group 20"/>
          <p:cNvGrpSpPr/>
          <p:nvPr/>
        </p:nvGrpSpPr>
        <p:grpSpPr>
          <a:xfrm>
            <a:off x="14472360" y="781920"/>
            <a:ext cx="841680" cy="841680"/>
            <a:chOff x="14472360" y="781920"/>
            <a:chExt cx="841680" cy="841680"/>
          </a:xfrm>
        </p:grpSpPr>
        <p:sp>
          <p:nvSpPr>
            <p:cNvPr id="172" name="Freeform 21"/>
            <p:cNvSpPr/>
            <p:nvPr/>
          </p:nvSpPr>
          <p:spPr>
            <a:xfrm rot="5400000">
              <a:off x="14472360" y="781920"/>
              <a:ext cx="841680" cy="841680"/>
            </a:xfrm>
            <a:custGeom>
              <a:avLst/>
              <a:gdLst>
                <a:gd name="textAreaLeft" fmla="*/ 0 w 841680"/>
                <a:gd name="textAreaRight" fmla="*/ 842040 w 841680"/>
                <a:gd name="textAreaTop" fmla="*/ 0 h 841680"/>
                <a:gd name="textAreaBottom" fmla="*/ 842040 h 84168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1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73" name="Group 22"/>
          <p:cNvGrpSpPr/>
          <p:nvPr/>
        </p:nvGrpSpPr>
        <p:grpSpPr>
          <a:xfrm>
            <a:off x="2930040" y="7930080"/>
            <a:ext cx="841680" cy="841680"/>
            <a:chOff x="2930040" y="7930080"/>
            <a:chExt cx="841680" cy="841680"/>
          </a:xfrm>
        </p:grpSpPr>
        <p:sp>
          <p:nvSpPr>
            <p:cNvPr id="174" name="Freeform 23"/>
            <p:cNvSpPr/>
            <p:nvPr/>
          </p:nvSpPr>
          <p:spPr>
            <a:xfrm rot="16200000">
              <a:off x="2930040" y="7930080"/>
              <a:ext cx="841680" cy="841680"/>
            </a:xfrm>
            <a:custGeom>
              <a:avLst/>
              <a:gdLst>
                <a:gd name="textAreaLeft" fmla="*/ 0 w 841680"/>
                <a:gd name="textAreaRight" fmla="*/ 842040 w 841680"/>
                <a:gd name="textAreaTop" fmla="*/ 0 h 841680"/>
                <a:gd name="textAreaBottom" fmla="*/ 842040 h 84168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1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75" name="Group 24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176" name="Freeform 25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77" name="Group 26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178" name="Freeform 27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79" name="Group 28"/>
          <p:cNvGrpSpPr/>
          <p:nvPr/>
        </p:nvGrpSpPr>
        <p:grpSpPr>
          <a:xfrm>
            <a:off x="5843520" y="7261200"/>
            <a:ext cx="94320" cy="2311560"/>
            <a:chOff x="5843520" y="7261200"/>
            <a:chExt cx="94320" cy="2311560"/>
          </a:xfrm>
        </p:grpSpPr>
        <p:sp>
          <p:nvSpPr>
            <p:cNvPr id="180" name="Freeform 29"/>
            <p:cNvSpPr/>
            <p:nvPr/>
          </p:nvSpPr>
          <p:spPr>
            <a:xfrm>
              <a:off x="5843520" y="7442280"/>
              <a:ext cx="94320" cy="213048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2130480"/>
                <a:gd name="textAreaBottom" fmla="*/ 2130840 h 2130480"/>
              </a:gdLst>
              <a:ahLst/>
              <a:rect l="textAreaLeft" t="textAreaTop" r="textAreaRight" b="textAreaBottom"/>
              <a:pathLst>
                <a:path w="24893" h="561223">
                  <a:moveTo>
                    <a:pt x="0" y="0"/>
                  </a:moveTo>
                  <a:lnTo>
                    <a:pt x="24893" y="0"/>
                  </a:lnTo>
                  <a:lnTo>
                    <a:pt x="24893" y="561223"/>
                  </a:lnTo>
                  <a:lnTo>
                    <a:pt x="0" y="561223"/>
                  </a:lnTo>
                  <a:close/>
                </a:path>
              </a:pathLst>
            </a:custGeom>
            <a:solidFill>
              <a:srgbClr val="145d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81" name="TextBox 30"/>
            <p:cNvSpPr/>
            <p:nvPr/>
          </p:nvSpPr>
          <p:spPr>
            <a:xfrm>
              <a:off x="5843520" y="7261200"/>
              <a:ext cx="94320" cy="2311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05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82" name="Group 31"/>
          <p:cNvGrpSpPr/>
          <p:nvPr/>
        </p:nvGrpSpPr>
        <p:grpSpPr>
          <a:xfrm>
            <a:off x="9309960" y="6423480"/>
            <a:ext cx="94320" cy="2311200"/>
            <a:chOff x="9309960" y="6423480"/>
            <a:chExt cx="94320" cy="2311200"/>
          </a:xfrm>
        </p:grpSpPr>
        <p:sp>
          <p:nvSpPr>
            <p:cNvPr id="183" name="Freeform 32"/>
            <p:cNvSpPr/>
            <p:nvPr/>
          </p:nvSpPr>
          <p:spPr>
            <a:xfrm>
              <a:off x="9309960" y="6604200"/>
              <a:ext cx="94320" cy="213048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2130480"/>
                <a:gd name="textAreaBottom" fmla="*/ 2130840 h 2130480"/>
              </a:gdLst>
              <a:ahLst/>
              <a:rect l="textAreaLeft" t="textAreaTop" r="textAreaRight" b="textAreaBottom"/>
              <a:pathLst>
                <a:path w="24893" h="561223">
                  <a:moveTo>
                    <a:pt x="0" y="0"/>
                  </a:moveTo>
                  <a:lnTo>
                    <a:pt x="24893" y="0"/>
                  </a:lnTo>
                  <a:lnTo>
                    <a:pt x="24893" y="561223"/>
                  </a:lnTo>
                  <a:lnTo>
                    <a:pt x="0" y="561223"/>
                  </a:lnTo>
                  <a:close/>
                </a:path>
              </a:pathLst>
            </a:custGeom>
            <a:solidFill>
              <a:srgbClr val="145d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84" name="TextBox 33"/>
            <p:cNvSpPr/>
            <p:nvPr/>
          </p:nvSpPr>
          <p:spPr>
            <a:xfrm>
              <a:off x="9309960" y="6423480"/>
              <a:ext cx="94320" cy="2311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05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85" name="TextBox 35"/>
          <p:cNvSpPr/>
          <p:nvPr/>
        </p:nvSpPr>
        <p:spPr>
          <a:xfrm>
            <a:off x="1657440" y="1535760"/>
            <a:ext cx="15937560" cy="13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481"/>
              </a:lnSpc>
            </a:pPr>
            <a:r>
              <a:rPr b="1" lang="en-US" sz="7200" strike="noStrike" u="none">
                <a:solidFill>
                  <a:schemeClr val="lt1"/>
                </a:solidFill>
                <a:uFillTx/>
                <a:latin typeface="DeepSeek-CJK-patch"/>
              </a:rPr>
              <a:t>Overview of Oracle E-Business Suite (EBS)</a:t>
            </a:r>
            <a:endParaRPr b="0" lang="en-US" sz="7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 defTabSz="914400">
              <a:lnSpc>
                <a:spcPts val="3481"/>
              </a:lnSpc>
            </a:pPr>
            <a:endParaRPr b="0" lang="en-US" sz="7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186" name="Group 39"/>
          <p:cNvGrpSpPr/>
          <p:nvPr/>
        </p:nvGrpSpPr>
        <p:grpSpPr>
          <a:xfrm>
            <a:off x="291600" y="943920"/>
            <a:ext cx="1224360" cy="1224360"/>
            <a:chOff x="291600" y="943920"/>
            <a:chExt cx="1224360" cy="1224360"/>
          </a:xfrm>
        </p:grpSpPr>
        <p:sp>
          <p:nvSpPr>
            <p:cNvPr id="187" name="Freeform 40"/>
            <p:cNvSpPr/>
            <p:nvPr/>
          </p:nvSpPr>
          <p:spPr>
            <a:xfrm rot="5400000">
              <a:off x="291240" y="94356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1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88" name="TextBox 41"/>
          <p:cNvSpPr/>
          <p:nvPr/>
        </p:nvSpPr>
        <p:spPr>
          <a:xfrm>
            <a:off x="173880" y="1201680"/>
            <a:ext cx="1455840" cy="8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817"/>
              </a:lnSpc>
            </a:pPr>
            <a:r>
              <a:rPr b="1" lang="en-US" sz="494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a.</a:t>
            </a:r>
            <a:endParaRPr b="0" lang="en-US" sz="494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9" name="TextBox 45"/>
          <p:cNvSpPr/>
          <p:nvPr/>
        </p:nvSpPr>
        <p:spPr>
          <a:xfrm>
            <a:off x="1222920" y="3057840"/>
            <a:ext cx="6625440" cy="9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indent="-21600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4400" strike="noStrike" u="none">
                <a:solidFill>
                  <a:schemeClr val="lt1"/>
                </a:solidFill>
                <a:uFillTx/>
                <a:latin typeface="DeepSeek-CJK-patch"/>
              </a:rPr>
              <a:t>Oracle EBS is an </a:t>
            </a:r>
            <a:r>
              <a:rPr b="1" lang="en-US" sz="4400" strike="noStrike" u="none">
                <a:solidFill>
                  <a:schemeClr val="lt1"/>
                </a:solidFill>
                <a:uFillTx/>
                <a:latin typeface="DeepSeek-CJK-patch"/>
              </a:rPr>
              <a:t>integrated suite of business applications</a:t>
            </a:r>
            <a:r>
              <a:rPr b="0" lang="en-US" sz="4400" strike="noStrike" u="none">
                <a:solidFill>
                  <a:schemeClr val="lt1"/>
                </a:solidFill>
                <a:uFillTx/>
                <a:latin typeface="DeepSeek-CJK-patch"/>
              </a:rPr>
              <a:t> for ERP, SCM, CRM, and more.</a:t>
            </a:r>
            <a:endParaRPr b="0" lang="en-US" sz="4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-216000" defTabSz="9144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4400" strike="noStrike" u="none">
                <a:solidFill>
                  <a:schemeClr val="lt1"/>
                </a:solidFill>
                <a:uFillTx/>
                <a:latin typeface="DeepSeek-CJK-patch"/>
              </a:rPr>
              <a:t>Modular architecture (Finance, HR, Procurement, Manufacturing, etc.).</a:t>
            </a:r>
            <a:endParaRPr b="0" lang="en-US" sz="4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-216000" defTabSz="91440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Font typeface="Arial"/>
              <a:buChar char="•"/>
            </a:pPr>
            <a:r>
              <a:rPr b="1" lang="en-US" sz="4400" strike="noStrike" u="none">
                <a:solidFill>
                  <a:schemeClr val="lt1"/>
                </a:solidFill>
                <a:uFillTx/>
                <a:latin typeface="DeepSeek-CJK-patch"/>
              </a:rPr>
              <a:t>Purchasing Module</a:t>
            </a:r>
            <a:r>
              <a:rPr b="0" lang="en-US" sz="4400" strike="noStrike" u="none">
                <a:solidFill>
                  <a:schemeClr val="lt1"/>
                </a:solidFill>
                <a:uFillTx/>
                <a:latin typeface="DeepSeek-CJK-patch"/>
              </a:rPr>
              <a:t> is part of the </a:t>
            </a:r>
            <a:r>
              <a:rPr b="1" lang="en-US" sz="4400" strike="noStrike" u="none">
                <a:solidFill>
                  <a:schemeClr val="lt1"/>
                </a:solidFill>
                <a:uFillTx/>
                <a:latin typeface="DeepSeek-CJK-patch"/>
              </a:rPr>
              <a:t>Supply Chain Management (SCM)</a:t>
            </a:r>
            <a:r>
              <a:rPr b="0" lang="en-US" sz="4400" strike="noStrike" u="none">
                <a:solidFill>
                  <a:schemeClr val="lt1"/>
                </a:solidFill>
                <a:uFillTx/>
                <a:latin typeface="DeepSeek-CJK-patch"/>
              </a:rPr>
              <a:t> suite.</a:t>
            </a:r>
            <a:endParaRPr b="0" lang="en-US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90" name="Picture 5" descr="Best EBS Support,Best CRM,Best SCM,Customised Solutions - Conacent"/>
          <p:cNvPicPr/>
          <p:nvPr/>
        </p:nvPicPr>
        <p:blipFill>
          <a:blip r:embed="rId20"/>
          <a:stretch/>
        </p:blipFill>
        <p:spPr>
          <a:xfrm>
            <a:off x="7859520" y="2645640"/>
            <a:ext cx="9921960" cy="7689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Freeform 8"/>
          <p:cNvSpPr/>
          <p:nvPr/>
        </p:nvSpPr>
        <p:spPr>
          <a:xfrm>
            <a:off x="5577120" y="3531600"/>
            <a:ext cx="721440" cy="1044360"/>
          </a:xfrm>
          <a:custGeom>
            <a:avLst/>
            <a:gdLst>
              <a:gd name="textAreaLeft" fmla="*/ 0 w 721440"/>
              <a:gd name="textAreaRight" fmla="*/ 721800 w 721440"/>
              <a:gd name="textAreaTop" fmla="*/ 0 h 1044360"/>
              <a:gd name="textAreaBottom" fmla="*/ 1044720 h 1044360"/>
            </a:gdLst>
            <a:ahLst/>
            <a:rect l="textAreaLeft" t="textAreaTop" r="textAreaRight" b="textAreaBottom"/>
            <a:pathLst>
              <a:path w="721898" h="1044852">
                <a:moveTo>
                  <a:pt x="0" y="0"/>
                </a:moveTo>
                <a:lnTo>
                  <a:pt x="721898" y="0"/>
                </a:lnTo>
                <a:lnTo>
                  <a:pt x="721898" y="1044852"/>
                </a:lnTo>
                <a:lnTo>
                  <a:pt x="0" y="10448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92" name="Freeform 9"/>
          <p:cNvSpPr/>
          <p:nvPr/>
        </p:nvSpPr>
        <p:spPr>
          <a:xfrm>
            <a:off x="11053800" y="3531600"/>
            <a:ext cx="1029600" cy="1040760"/>
          </a:xfrm>
          <a:custGeom>
            <a:avLst/>
            <a:gdLst>
              <a:gd name="textAreaLeft" fmla="*/ 0 w 1029600"/>
              <a:gd name="textAreaRight" fmla="*/ 1029960 w 1029600"/>
              <a:gd name="textAreaTop" fmla="*/ 0 h 1040760"/>
              <a:gd name="textAreaBottom" fmla="*/ 1041120 h 1040760"/>
            </a:gdLst>
            <a:ahLst/>
            <a:rect l="textAreaLeft" t="textAreaTop" r="textAreaRight" b="textAreaBottom"/>
            <a:pathLst>
              <a:path w="1029822" h="1041181">
                <a:moveTo>
                  <a:pt x="0" y="0"/>
                </a:moveTo>
                <a:lnTo>
                  <a:pt x="1029823" y="0"/>
                </a:lnTo>
                <a:lnTo>
                  <a:pt x="1029823" y="1041181"/>
                </a:lnTo>
                <a:lnTo>
                  <a:pt x="0" y="104118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193" name="Group 10"/>
          <p:cNvGrpSpPr/>
          <p:nvPr/>
        </p:nvGrpSpPr>
        <p:grpSpPr>
          <a:xfrm>
            <a:off x="15966720" y="9258840"/>
            <a:ext cx="13457520" cy="3263760"/>
            <a:chOff x="15966720" y="9258840"/>
            <a:chExt cx="13457520" cy="3263760"/>
          </a:xfrm>
        </p:grpSpPr>
        <p:sp>
          <p:nvSpPr>
            <p:cNvPr id="194" name="Freeform 11"/>
            <p:cNvSpPr/>
            <p:nvPr/>
          </p:nvSpPr>
          <p:spPr>
            <a:xfrm rot="10800000">
              <a:off x="26312400" y="9410760"/>
              <a:ext cx="3111840" cy="3111840"/>
            </a:xfrm>
            <a:custGeom>
              <a:avLst/>
              <a:gdLst>
                <a:gd name="textAreaLeft" fmla="*/ 0 w 3111840"/>
                <a:gd name="textAreaRight" fmla="*/ 3112200 w 3111840"/>
                <a:gd name="textAreaTop" fmla="*/ 0 h 3111840"/>
                <a:gd name="textAreaBottom" fmla="*/ 3112200 h 3111840"/>
              </a:gdLst>
              <a:ahLst/>
              <a:rect l="textAreaLeft" t="textAreaTop" r="textAreaRight" b="textAreaBottom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95" name="Freeform 12"/>
            <p:cNvSpPr/>
            <p:nvPr/>
          </p:nvSpPr>
          <p:spPr>
            <a:xfrm rot="10800000">
              <a:off x="22862520" y="9410760"/>
              <a:ext cx="3111840" cy="2465640"/>
            </a:xfrm>
            <a:custGeom>
              <a:avLst/>
              <a:gdLst>
                <a:gd name="textAreaLeft" fmla="*/ 0 w 3111840"/>
                <a:gd name="textAreaRight" fmla="*/ 3112200 w 3111840"/>
                <a:gd name="textAreaTop" fmla="*/ 0 h 2465640"/>
                <a:gd name="textAreaBottom" fmla="*/ 2466000 h 2465640"/>
              </a:gdLst>
              <a:ahLst/>
              <a:rect l="textAreaLeft" t="textAreaTop" r="textAreaRight" b="textAreaBottom"/>
              <a:pathLst>
                <a:path w="4149650" h="3288079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96" name="Freeform 13"/>
            <p:cNvSpPr/>
            <p:nvPr/>
          </p:nvSpPr>
          <p:spPr>
            <a:xfrm rot="10800000">
              <a:off x="19416960" y="9258840"/>
              <a:ext cx="3111840" cy="3111840"/>
            </a:xfrm>
            <a:custGeom>
              <a:avLst/>
              <a:gdLst>
                <a:gd name="textAreaLeft" fmla="*/ 0 w 3111840"/>
                <a:gd name="textAreaRight" fmla="*/ 3112200 w 3111840"/>
                <a:gd name="textAreaTop" fmla="*/ 0 h 3111840"/>
                <a:gd name="textAreaBottom" fmla="*/ 3112200 h 3111840"/>
              </a:gdLst>
              <a:ahLst/>
              <a:rect l="textAreaLeft" t="textAreaTop" r="textAreaRight" b="textAreaBottom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197" name="Freeform 14"/>
            <p:cNvSpPr/>
            <p:nvPr/>
          </p:nvSpPr>
          <p:spPr>
            <a:xfrm rot="10800000">
              <a:off x="15966720" y="9258840"/>
              <a:ext cx="3111840" cy="2465640"/>
            </a:xfrm>
            <a:custGeom>
              <a:avLst/>
              <a:gdLst>
                <a:gd name="textAreaLeft" fmla="*/ 0 w 3111840"/>
                <a:gd name="textAreaRight" fmla="*/ 3112200 w 3111840"/>
                <a:gd name="textAreaTop" fmla="*/ 0 h 2465640"/>
                <a:gd name="textAreaBottom" fmla="*/ 2466000 h 2465640"/>
              </a:gdLst>
              <a:ahLst/>
              <a:rect l="textAreaLeft" t="textAreaTop" r="textAreaRight" b="textAreaBottom"/>
              <a:pathLst>
                <a:path w="4149650" h="3288079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98" name="Freeform 15"/>
          <p:cNvSpPr/>
          <p:nvPr/>
        </p:nvSpPr>
        <p:spPr>
          <a:xfrm>
            <a:off x="14613840" y="-4787280"/>
            <a:ext cx="8754120" cy="8754120"/>
          </a:xfrm>
          <a:custGeom>
            <a:avLst/>
            <a:gdLst>
              <a:gd name="textAreaLeft" fmla="*/ 0 w 8754120"/>
              <a:gd name="textAreaRight" fmla="*/ 8754480 w 8754120"/>
              <a:gd name="textAreaTop" fmla="*/ 0 h 8754120"/>
              <a:gd name="textAreaBottom" fmla="*/ 8754480 h 8754120"/>
            </a:gdLst>
            <a:ahLst/>
            <a:rect l="textAreaLeft" t="textAreaTop" r="textAreaRight" b="textAreaBottom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199" name="Group 16"/>
          <p:cNvGrpSpPr/>
          <p:nvPr/>
        </p:nvGrpSpPr>
        <p:grpSpPr>
          <a:xfrm>
            <a:off x="15764040" y="-781920"/>
            <a:ext cx="1683720" cy="2405160"/>
            <a:chOff x="15764040" y="-781920"/>
            <a:chExt cx="1683720" cy="2405160"/>
          </a:xfrm>
        </p:grpSpPr>
        <p:sp>
          <p:nvSpPr>
            <p:cNvPr id="200" name="Freeform 17"/>
            <p:cNvSpPr/>
            <p:nvPr/>
          </p:nvSpPr>
          <p:spPr>
            <a:xfrm>
              <a:off x="15764040" y="-781920"/>
              <a:ext cx="1683720" cy="2405160"/>
            </a:xfrm>
            <a:custGeom>
              <a:avLst/>
              <a:gdLst>
                <a:gd name="textAreaLeft" fmla="*/ 0 w 1683720"/>
                <a:gd name="textAreaRight" fmla="*/ 1684080 w 1683720"/>
                <a:gd name="textAreaTop" fmla="*/ 0 h 2405160"/>
                <a:gd name="textAreaBottom" fmla="*/ 2405520 h 240516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01" name="Group 18"/>
          <p:cNvGrpSpPr/>
          <p:nvPr/>
        </p:nvGrpSpPr>
        <p:grpSpPr>
          <a:xfrm>
            <a:off x="796320" y="7930440"/>
            <a:ext cx="1683720" cy="2405160"/>
            <a:chOff x="796320" y="7930440"/>
            <a:chExt cx="1683720" cy="2405160"/>
          </a:xfrm>
        </p:grpSpPr>
        <p:sp>
          <p:nvSpPr>
            <p:cNvPr id="202" name="Freeform 19"/>
            <p:cNvSpPr/>
            <p:nvPr/>
          </p:nvSpPr>
          <p:spPr>
            <a:xfrm rot="10800000">
              <a:off x="796320" y="7930440"/>
              <a:ext cx="1683720" cy="2405160"/>
            </a:xfrm>
            <a:custGeom>
              <a:avLst/>
              <a:gdLst>
                <a:gd name="textAreaLeft" fmla="*/ 0 w 1683720"/>
                <a:gd name="textAreaRight" fmla="*/ 1684080 w 1683720"/>
                <a:gd name="textAreaTop" fmla="*/ 0 h 2405160"/>
                <a:gd name="textAreaBottom" fmla="*/ 2405520 h 240516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03" name="Group 20"/>
          <p:cNvGrpSpPr/>
          <p:nvPr/>
        </p:nvGrpSpPr>
        <p:grpSpPr>
          <a:xfrm>
            <a:off x="14472360" y="781920"/>
            <a:ext cx="841680" cy="841680"/>
            <a:chOff x="14472360" y="781920"/>
            <a:chExt cx="841680" cy="841680"/>
          </a:xfrm>
        </p:grpSpPr>
        <p:sp>
          <p:nvSpPr>
            <p:cNvPr id="204" name="Freeform 21"/>
            <p:cNvSpPr/>
            <p:nvPr/>
          </p:nvSpPr>
          <p:spPr>
            <a:xfrm rot="5400000">
              <a:off x="14472360" y="781920"/>
              <a:ext cx="841680" cy="841680"/>
            </a:xfrm>
            <a:custGeom>
              <a:avLst/>
              <a:gdLst>
                <a:gd name="textAreaLeft" fmla="*/ 0 w 841680"/>
                <a:gd name="textAreaRight" fmla="*/ 842040 w 841680"/>
                <a:gd name="textAreaTop" fmla="*/ 0 h 841680"/>
                <a:gd name="textAreaBottom" fmla="*/ 842040 h 84168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1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05" name="Group 22"/>
          <p:cNvGrpSpPr/>
          <p:nvPr/>
        </p:nvGrpSpPr>
        <p:grpSpPr>
          <a:xfrm>
            <a:off x="2930040" y="7930080"/>
            <a:ext cx="841680" cy="841680"/>
            <a:chOff x="2930040" y="7930080"/>
            <a:chExt cx="841680" cy="841680"/>
          </a:xfrm>
        </p:grpSpPr>
        <p:sp>
          <p:nvSpPr>
            <p:cNvPr id="206" name="Freeform 23"/>
            <p:cNvSpPr/>
            <p:nvPr/>
          </p:nvSpPr>
          <p:spPr>
            <a:xfrm rot="16200000">
              <a:off x="2930040" y="7930080"/>
              <a:ext cx="841680" cy="841680"/>
            </a:xfrm>
            <a:custGeom>
              <a:avLst/>
              <a:gdLst>
                <a:gd name="textAreaLeft" fmla="*/ 0 w 841680"/>
                <a:gd name="textAreaRight" fmla="*/ 842040 w 841680"/>
                <a:gd name="textAreaTop" fmla="*/ 0 h 841680"/>
                <a:gd name="textAreaBottom" fmla="*/ 842040 h 84168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1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07" name="Group 24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208" name="Freeform 25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09" name="Group 26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210" name="Freeform 27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11" name="Group 28"/>
          <p:cNvGrpSpPr/>
          <p:nvPr/>
        </p:nvGrpSpPr>
        <p:grpSpPr>
          <a:xfrm>
            <a:off x="5843520" y="7261200"/>
            <a:ext cx="94320" cy="2311560"/>
            <a:chOff x="5843520" y="7261200"/>
            <a:chExt cx="94320" cy="2311560"/>
          </a:xfrm>
        </p:grpSpPr>
        <p:sp>
          <p:nvSpPr>
            <p:cNvPr id="212" name="Freeform 29"/>
            <p:cNvSpPr/>
            <p:nvPr/>
          </p:nvSpPr>
          <p:spPr>
            <a:xfrm>
              <a:off x="5843520" y="7442280"/>
              <a:ext cx="94320" cy="213048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2130480"/>
                <a:gd name="textAreaBottom" fmla="*/ 2130840 h 2130480"/>
              </a:gdLst>
              <a:ahLst/>
              <a:rect l="textAreaLeft" t="textAreaTop" r="textAreaRight" b="textAreaBottom"/>
              <a:pathLst>
                <a:path w="24893" h="561223">
                  <a:moveTo>
                    <a:pt x="0" y="0"/>
                  </a:moveTo>
                  <a:lnTo>
                    <a:pt x="24893" y="0"/>
                  </a:lnTo>
                  <a:lnTo>
                    <a:pt x="24893" y="561223"/>
                  </a:lnTo>
                  <a:lnTo>
                    <a:pt x="0" y="561223"/>
                  </a:lnTo>
                  <a:close/>
                </a:path>
              </a:pathLst>
            </a:custGeom>
            <a:solidFill>
              <a:srgbClr val="145d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13" name="TextBox 30"/>
            <p:cNvSpPr/>
            <p:nvPr/>
          </p:nvSpPr>
          <p:spPr>
            <a:xfrm>
              <a:off x="5843520" y="7261200"/>
              <a:ext cx="94320" cy="2311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05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14" name="Group 31"/>
          <p:cNvGrpSpPr/>
          <p:nvPr/>
        </p:nvGrpSpPr>
        <p:grpSpPr>
          <a:xfrm>
            <a:off x="9309960" y="6423480"/>
            <a:ext cx="94320" cy="2311200"/>
            <a:chOff x="9309960" y="6423480"/>
            <a:chExt cx="94320" cy="2311200"/>
          </a:xfrm>
        </p:grpSpPr>
        <p:sp>
          <p:nvSpPr>
            <p:cNvPr id="215" name="Freeform 32"/>
            <p:cNvSpPr/>
            <p:nvPr/>
          </p:nvSpPr>
          <p:spPr>
            <a:xfrm>
              <a:off x="9309960" y="6604200"/>
              <a:ext cx="94320" cy="213048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2130480"/>
                <a:gd name="textAreaBottom" fmla="*/ 2130840 h 2130480"/>
              </a:gdLst>
              <a:ahLst/>
              <a:rect l="textAreaLeft" t="textAreaTop" r="textAreaRight" b="textAreaBottom"/>
              <a:pathLst>
                <a:path w="24893" h="561223">
                  <a:moveTo>
                    <a:pt x="0" y="0"/>
                  </a:moveTo>
                  <a:lnTo>
                    <a:pt x="24893" y="0"/>
                  </a:lnTo>
                  <a:lnTo>
                    <a:pt x="24893" y="561223"/>
                  </a:lnTo>
                  <a:lnTo>
                    <a:pt x="0" y="561223"/>
                  </a:lnTo>
                  <a:close/>
                </a:path>
              </a:pathLst>
            </a:custGeom>
            <a:solidFill>
              <a:srgbClr val="145d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16" name="TextBox 33"/>
            <p:cNvSpPr/>
            <p:nvPr/>
          </p:nvSpPr>
          <p:spPr>
            <a:xfrm>
              <a:off x="9309960" y="6423480"/>
              <a:ext cx="94320" cy="2311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05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217" name="TextBox 35"/>
          <p:cNvSpPr/>
          <p:nvPr/>
        </p:nvSpPr>
        <p:spPr>
          <a:xfrm>
            <a:off x="1222920" y="1535760"/>
            <a:ext cx="15937560" cy="13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481"/>
              </a:lnSpc>
            </a:pPr>
            <a:r>
              <a:rPr b="1" lang="en-US" sz="7200" strike="noStrike" u="none">
                <a:solidFill>
                  <a:schemeClr val="lt1"/>
                </a:solidFill>
                <a:uFillTx/>
                <a:latin typeface="DeepSeek-CJK-patch"/>
              </a:rPr>
              <a:t>Purpose of the Purchasing Module</a:t>
            </a:r>
            <a:endParaRPr b="0" lang="en-US" sz="7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 defTabSz="914400">
              <a:lnSpc>
                <a:spcPts val="3481"/>
              </a:lnSpc>
            </a:pPr>
            <a:endParaRPr b="0" lang="en-US" sz="7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218" name="Group 39"/>
          <p:cNvGrpSpPr/>
          <p:nvPr/>
        </p:nvGrpSpPr>
        <p:grpSpPr>
          <a:xfrm>
            <a:off x="291600" y="943920"/>
            <a:ext cx="1224360" cy="1224360"/>
            <a:chOff x="291600" y="943920"/>
            <a:chExt cx="1224360" cy="1224360"/>
          </a:xfrm>
        </p:grpSpPr>
        <p:sp>
          <p:nvSpPr>
            <p:cNvPr id="219" name="Freeform 40"/>
            <p:cNvSpPr/>
            <p:nvPr/>
          </p:nvSpPr>
          <p:spPr>
            <a:xfrm rot="5400000">
              <a:off x="291240" y="94356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1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220" name="TextBox 41"/>
          <p:cNvSpPr/>
          <p:nvPr/>
        </p:nvSpPr>
        <p:spPr>
          <a:xfrm>
            <a:off x="173880" y="1201680"/>
            <a:ext cx="1455840" cy="8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817"/>
              </a:lnSpc>
            </a:pPr>
            <a:r>
              <a:rPr b="1" lang="en-US" sz="494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b.</a:t>
            </a:r>
            <a:endParaRPr b="0" lang="en-US" sz="494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1" name="TextBox 45"/>
          <p:cNvSpPr/>
          <p:nvPr/>
        </p:nvSpPr>
        <p:spPr>
          <a:xfrm>
            <a:off x="1325880" y="2512440"/>
            <a:ext cx="6625440" cy="101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indent="-21600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4400" strike="noStrike" u="none">
                <a:solidFill>
                  <a:schemeClr val="lt1"/>
                </a:solidFill>
                <a:uFillTx/>
                <a:latin typeface="DeepSeek-CJK-patch"/>
              </a:rPr>
              <a:t>Automates procurement processes from requisition to payment.</a:t>
            </a:r>
            <a:endParaRPr b="0" lang="en-US" sz="4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4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4400" strike="noStrike" u="none">
                <a:solidFill>
                  <a:schemeClr val="lt1"/>
                </a:solidFill>
                <a:uFillTx/>
                <a:latin typeface="DeepSeek-CJK-patch"/>
              </a:rPr>
              <a:t>Centralizes supplier management, purchase orders, and goods receipt.</a:t>
            </a:r>
            <a:endParaRPr b="0" lang="en-US" sz="4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4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4400" strike="noStrike" u="none">
                <a:solidFill>
                  <a:schemeClr val="lt1"/>
                </a:solidFill>
                <a:uFillTx/>
                <a:latin typeface="DeepSeek-CJK-patch"/>
              </a:rPr>
              <a:t>Ensures compliance with organizational policies and audit controls.</a:t>
            </a:r>
            <a:endParaRPr b="0" lang="en-US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22" name="Picture 2" descr="Oracle R12 Purchasing setup | PDF"/>
          <p:cNvPicPr/>
          <p:nvPr/>
        </p:nvPicPr>
        <p:blipFill>
          <a:blip r:embed="rId20"/>
          <a:srcRect l="0" t="0" r="0" b="40644"/>
          <a:stretch/>
        </p:blipFill>
        <p:spPr>
          <a:xfrm>
            <a:off x="7913520" y="2632680"/>
            <a:ext cx="9042120" cy="6940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Freeform 8"/>
          <p:cNvSpPr/>
          <p:nvPr/>
        </p:nvSpPr>
        <p:spPr>
          <a:xfrm>
            <a:off x="5577120" y="3531600"/>
            <a:ext cx="721440" cy="1044360"/>
          </a:xfrm>
          <a:custGeom>
            <a:avLst/>
            <a:gdLst>
              <a:gd name="textAreaLeft" fmla="*/ 0 w 721440"/>
              <a:gd name="textAreaRight" fmla="*/ 721800 w 721440"/>
              <a:gd name="textAreaTop" fmla="*/ 0 h 1044360"/>
              <a:gd name="textAreaBottom" fmla="*/ 1044720 h 1044360"/>
            </a:gdLst>
            <a:ahLst/>
            <a:rect l="textAreaLeft" t="textAreaTop" r="textAreaRight" b="textAreaBottom"/>
            <a:pathLst>
              <a:path w="721898" h="1044852">
                <a:moveTo>
                  <a:pt x="0" y="0"/>
                </a:moveTo>
                <a:lnTo>
                  <a:pt x="721898" y="0"/>
                </a:lnTo>
                <a:lnTo>
                  <a:pt x="721898" y="1044852"/>
                </a:lnTo>
                <a:lnTo>
                  <a:pt x="0" y="10448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24" name="Freeform 9"/>
          <p:cNvSpPr/>
          <p:nvPr/>
        </p:nvSpPr>
        <p:spPr>
          <a:xfrm>
            <a:off x="11053800" y="3531600"/>
            <a:ext cx="1029600" cy="1040760"/>
          </a:xfrm>
          <a:custGeom>
            <a:avLst/>
            <a:gdLst>
              <a:gd name="textAreaLeft" fmla="*/ 0 w 1029600"/>
              <a:gd name="textAreaRight" fmla="*/ 1029960 w 1029600"/>
              <a:gd name="textAreaTop" fmla="*/ 0 h 1040760"/>
              <a:gd name="textAreaBottom" fmla="*/ 1041120 h 1040760"/>
            </a:gdLst>
            <a:ahLst/>
            <a:rect l="textAreaLeft" t="textAreaTop" r="textAreaRight" b="textAreaBottom"/>
            <a:pathLst>
              <a:path w="1029822" h="1041181">
                <a:moveTo>
                  <a:pt x="0" y="0"/>
                </a:moveTo>
                <a:lnTo>
                  <a:pt x="1029823" y="0"/>
                </a:lnTo>
                <a:lnTo>
                  <a:pt x="1029823" y="1041181"/>
                </a:lnTo>
                <a:lnTo>
                  <a:pt x="0" y="104118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225" name="Group 10"/>
          <p:cNvGrpSpPr/>
          <p:nvPr/>
        </p:nvGrpSpPr>
        <p:grpSpPr>
          <a:xfrm>
            <a:off x="15966720" y="9258840"/>
            <a:ext cx="13457520" cy="3263760"/>
            <a:chOff x="15966720" y="9258840"/>
            <a:chExt cx="13457520" cy="3263760"/>
          </a:xfrm>
        </p:grpSpPr>
        <p:sp>
          <p:nvSpPr>
            <p:cNvPr id="226" name="Freeform 11"/>
            <p:cNvSpPr/>
            <p:nvPr/>
          </p:nvSpPr>
          <p:spPr>
            <a:xfrm rot="10800000">
              <a:off x="26312400" y="9410760"/>
              <a:ext cx="3111840" cy="3111840"/>
            </a:xfrm>
            <a:custGeom>
              <a:avLst/>
              <a:gdLst>
                <a:gd name="textAreaLeft" fmla="*/ 0 w 3111840"/>
                <a:gd name="textAreaRight" fmla="*/ 3112200 w 3111840"/>
                <a:gd name="textAreaTop" fmla="*/ 0 h 3111840"/>
                <a:gd name="textAreaBottom" fmla="*/ 3112200 h 3111840"/>
              </a:gdLst>
              <a:ahLst/>
              <a:rect l="textAreaLeft" t="textAreaTop" r="textAreaRight" b="textAreaBottom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27" name="Freeform 12"/>
            <p:cNvSpPr/>
            <p:nvPr/>
          </p:nvSpPr>
          <p:spPr>
            <a:xfrm rot="10800000">
              <a:off x="22862520" y="9410760"/>
              <a:ext cx="3111840" cy="2465640"/>
            </a:xfrm>
            <a:custGeom>
              <a:avLst/>
              <a:gdLst>
                <a:gd name="textAreaLeft" fmla="*/ 0 w 3111840"/>
                <a:gd name="textAreaRight" fmla="*/ 3112200 w 3111840"/>
                <a:gd name="textAreaTop" fmla="*/ 0 h 2465640"/>
                <a:gd name="textAreaBottom" fmla="*/ 2466000 h 2465640"/>
              </a:gdLst>
              <a:ahLst/>
              <a:rect l="textAreaLeft" t="textAreaTop" r="textAreaRight" b="textAreaBottom"/>
              <a:pathLst>
                <a:path w="4149650" h="3288079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28" name="Freeform 13"/>
            <p:cNvSpPr/>
            <p:nvPr/>
          </p:nvSpPr>
          <p:spPr>
            <a:xfrm rot="10800000">
              <a:off x="19416960" y="9258840"/>
              <a:ext cx="3111840" cy="3111840"/>
            </a:xfrm>
            <a:custGeom>
              <a:avLst/>
              <a:gdLst>
                <a:gd name="textAreaLeft" fmla="*/ 0 w 3111840"/>
                <a:gd name="textAreaRight" fmla="*/ 3112200 w 3111840"/>
                <a:gd name="textAreaTop" fmla="*/ 0 h 3111840"/>
                <a:gd name="textAreaBottom" fmla="*/ 3112200 h 3111840"/>
              </a:gdLst>
              <a:ahLst/>
              <a:rect l="textAreaLeft" t="textAreaTop" r="textAreaRight" b="textAreaBottom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29" name="Freeform 14"/>
            <p:cNvSpPr/>
            <p:nvPr/>
          </p:nvSpPr>
          <p:spPr>
            <a:xfrm rot="10800000">
              <a:off x="15966720" y="9258840"/>
              <a:ext cx="3111840" cy="2465640"/>
            </a:xfrm>
            <a:custGeom>
              <a:avLst/>
              <a:gdLst>
                <a:gd name="textAreaLeft" fmla="*/ 0 w 3111840"/>
                <a:gd name="textAreaRight" fmla="*/ 3112200 w 3111840"/>
                <a:gd name="textAreaTop" fmla="*/ 0 h 2465640"/>
                <a:gd name="textAreaBottom" fmla="*/ 2466000 h 2465640"/>
              </a:gdLst>
              <a:ahLst/>
              <a:rect l="textAreaLeft" t="textAreaTop" r="textAreaRight" b="textAreaBottom"/>
              <a:pathLst>
                <a:path w="4149650" h="3288079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230" name="Freeform 15"/>
          <p:cNvSpPr/>
          <p:nvPr/>
        </p:nvSpPr>
        <p:spPr>
          <a:xfrm>
            <a:off x="14613840" y="-4787280"/>
            <a:ext cx="8754120" cy="8754120"/>
          </a:xfrm>
          <a:custGeom>
            <a:avLst/>
            <a:gdLst>
              <a:gd name="textAreaLeft" fmla="*/ 0 w 8754120"/>
              <a:gd name="textAreaRight" fmla="*/ 8754480 w 8754120"/>
              <a:gd name="textAreaTop" fmla="*/ 0 h 8754120"/>
              <a:gd name="textAreaBottom" fmla="*/ 8754480 h 8754120"/>
            </a:gdLst>
            <a:ahLst/>
            <a:rect l="textAreaLeft" t="textAreaTop" r="textAreaRight" b="textAreaBottom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231" name="Group 16"/>
          <p:cNvGrpSpPr/>
          <p:nvPr/>
        </p:nvGrpSpPr>
        <p:grpSpPr>
          <a:xfrm>
            <a:off x="15764040" y="-781920"/>
            <a:ext cx="1683720" cy="2405160"/>
            <a:chOff x="15764040" y="-781920"/>
            <a:chExt cx="1683720" cy="2405160"/>
          </a:xfrm>
        </p:grpSpPr>
        <p:sp>
          <p:nvSpPr>
            <p:cNvPr id="232" name="Freeform 17"/>
            <p:cNvSpPr/>
            <p:nvPr/>
          </p:nvSpPr>
          <p:spPr>
            <a:xfrm>
              <a:off x="15764040" y="-781920"/>
              <a:ext cx="1683720" cy="2405160"/>
            </a:xfrm>
            <a:custGeom>
              <a:avLst/>
              <a:gdLst>
                <a:gd name="textAreaLeft" fmla="*/ 0 w 1683720"/>
                <a:gd name="textAreaRight" fmla="*/ 1684080 w 1683720"/>
                <a:gd name="textAreaTop" fmla="*/ 0 h 2405160"/>
                <a:gd name="textAreaBottom" fmla="*/ 2405520 h 240516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33" name="Group 18"/>
          <p:cNvGrpSpPr/>
          <p:nvPr/>
        </p:nvGrpSpPr>
        <p:grpSpPr>
          <a:xfrm>
            <a:off x="796320" y="7930440"/>
            <a:ext cx="1683720" cy="2405160"/>
            <a:chOff x="796320" y="7930440"/>
            <a:chExt cx="1683720" cy="2405160"/>
          </a:xfrm>
        </p:grpSpPr>
        <p:sp>
          <p:nvSpPr>
            <p:cNvPr id="234" name="Freeform 19"/>
            <p:cNvSpPr/>
            <p:nvPr/>
          </p:nvSpPr>
          <p:spPr>
            <a:xfrm rot="10800000">
              <a:off x="796320" y="7930440"/>
              <a:ext cx="1683720" cy="2405160"/>
            </a:xfrm>
            <a:custGeom>
              <a:avLst/>
              <a:gdLst>
                <a:gd name="textAreaLeft" fmla="*/ 0 w 1683720"/>
                <a:gd name="textAreaRight" fmla="*/ 1684080 w 1683720"/>
                <a:gd name="textAreaTop" fmla="*/ 0 h 2405160"/>
                <a:gd name="textAreaBottom" fmla="*/ 2405520 h 240516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35" name="Group 20"/>
          <p:cNvGrpSpPr/>
          <p:nvPr/>
        </p:nvGrpSpPr>
        <p:grpSpPr>
          <a:xfrm>
            <a:off x="14472360" y="781920"/>
            <a:ext cx="841680" cy="841680"/>
            <a:chOff x="14472360" y="781920"/>
            <a:chExt cx="841680" cy="841680"/>
          </a:xfrm>
        </p:grpSpPr>
        <p:sp>
          <p:nvSpPr>
            <p:cNvPr id="236" name="Freeform 21"/>
            <p:cNvSpPr/>
            <p:nvPr/>
          </p:nvSpPr>
          <p:spPr>
            <a:xfrm rot="5400000">
              <a:off x="14472360" y="781920"/>
              <a:ext cx="841680" cy="841680"/>
            </a:xfrm>
            <a:custGeom>
              <a:avLst/>
              <a:gdLst>
                <a:gd name="textAreaLeft" fmla="*/ 0 w 841680"/>
                <a:gd name="textAreaRight" fmla="*/ 842040 w 841680"/>
                <a:gd name="textAreaTop" fmla="*/ 0 h 841680"/>
                <a:gd name="textAreaBottom" fmla="*/ 842040 h 84168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1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37" name="Group 22"/>
          <p:cNvGrpSpPr/>
          <p:nvPr/>
        </p:nvGrpSpPr>
        <p:grpSpPr>
          <a:xfrm>
            <a:off x="2930040" y="7930080"/>
            <a:ext cx="841680" cy="841680"/>
            <a:chOff x="2930040" y="7930080"/>
            <a:chExt cx="841680" cy="841680"/>
          </a:xfrm>
        </p:grpSpPr>
        <p:sp>
          <p:nvSpPr>
            <p:cNvPr id="238" name="Freeform 23"/>
            <p:cNvSpPr/>
            <p:nvPr/>
          </p:nvSpPr>
          <p:spPr>
            <a:xfrm rot="16200000">
              <a:off x="2930040" y="7930080"/>
              <a:ext cx="841680" cy="841680"/>
            </a:xfrm>
            <a:custGeom>
              <a:avLst/>
              <a:gdLst>
                <a:gd name="textAreaLeft" fmla="*/ 0 w 841680"/>
                <a:gd name="textAreaRight" fmla="*/ 842040 w 841680"/>
                <a:gd name="textAreaTop" fmla="*/ 0 h 841680"/>
                <a:gd name="textAreaBottom" fmla="*/ 842040 h 84168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1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39" name="Group 24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240" name="Freeform 25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41" name="Group 26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242" name="Freeform 27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43" name="Group 28"/>
          <p:cNvGrpSpPr/>
          <p:nvPr/>
        </p:nvGrpSpPr>
        <p:grpSpPr>
          <a:xfrm>
            <a:off x="5843520" y="7261200"/>
            <a:ext cx="94320" cy="2311560"/>
            <a:chOff x="5843520" y="7261200"/>
            <a:chExt cx="94320" cy="2311560"/>
          </a:xfrm>
        </p:grpSpPr>
        <p:sp>
          <p:nvSpPr>
            <p:cNvPr id="244" name="Freeform 29"/>
            <p:cNvSpPr/>
            <p:nvPr/>
          </p:nvSpPr>
          <p:spPr>
            <a:xfrm>
              <a:off x="5843520" y="7442280"/>
              <a:ext cx="94320" cy="213048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2130480"/>
                <a:gd name="textAreaBottom" fmla="*/ 2130840 h 2130480"/>
              </a:gdLst>
              <a:ahLst/>
              <a:rect l="textAreaLeft" t="textAreaTop" r="textAreaRight" b="textAreaBottom"/>
              <a:pathLst>
                <a:path w="24893" h="561223">
                  <a:moveTo>
                    <a:pt x="0" y="0"/>
                  </a:moveTo>
                  <a:lnTo>
                    <a:pt x="24893" y="0"/>
                  </a:lnTo>
                  <a:lnTo>
                    <a:pt x="24893" y="561223"/>
                  </a:lnTo>
                  <a:lnTo>
                    <a:pt x="0" y="561223"/>
                  </a:lnTo>
                  <a:close/>
                </a:path>
              </a:pathLst>
            </a:custGeom>
            <a:solidFill>
              <a:srgbClr val="145d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45" name="TextBox 30"/>
            <p:cNvSpPr/>
            <p:nvPr/>
          </p:nvSpPr>
          <p:spPr>
            <a:xfrm>
              <a:off x="5843520" y="7261200"/>
              <a:ext cx="94320" cy="2311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05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46" name="Group 31"/>
          <p:cNvGrpSpPr/>
          <p:nvPr/>
        </p:nvGrpSpPr>
        <p:grpSpPr>
          <a:xfrm>
            <a:off x="9309960" y="6423480"/>
            <a:ext cx="94320" cy="2311200"/>
            <a:chOff x="9309960" y="6423480"/>
            <a:chExt cx="94320" cy="2311200"/>
          </a:xfrm>
        </p:grpSpPr>
        <p:sp>
          <p:nvSpPr>
            <p:cNvPr id="247" name="Freeform 32"/>
            <p:cNvSpPr/>
            <p:nvPr/>
          </p:nvSpPr>
          <p:spPr>
            <a:xfrm>
              <a:off x="9309960" y="6604200"/>
              <a:ext cx="94320" cy="213048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2130480"/>
                <a:gd name="textAreaBottom" fmla="*/ 2130840 h 2130480"/>
              </a:gdLst>
              <a:ahLst/>
              <a:rect l="textAreaLeft" t="textAreaTop" r="textAreaRight" b="textAreaBottom"/>
              <a:pathLst>
                <a:path w="24893" h="561223">
                  <a:moveTo>
                    <a:pt x="0" y="0"/>
                  </a:moveTo>
                  <a:lnTo>
                    <a:pt x="24893" y="0"/>
                  </a:lnTo>
                  <a:lnTo>
                    <a:pt x="24893" y="561223"/>
                  </a:lnTo>
                  <a:lnTo>
                    <a:pt x="0" y="561223"/>
                  </a:lnTo>
                  <a:close/>
                </a:path>
              </a:pathLst>
            </a:custGeom>
            <a:solidFill>
              <a:srgbClr val="145d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48" name="TextBox 33"/>
            <p:cNvSpPr/>
            <p:nvPr/>
          </p:nvSpPr>
          <p:spPr>
            <a:xfrm>
              <a:off x="9309960" y="6423480"/>
              <a:ext cx="94320" cy="2311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05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249" name="TextBox 35"/>
          <p:cNvSpPr/>
          <p:nvPr/>
        </p:nvSpPr>
        <p:spPr>
          <a:xfrm>
            <a:off x="1222920" y="1535760"/>
            <a:ext cx="1593756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481"/>
              </a:lnSpc>
            </a:pPr>
            <a:r>
              <a:rPr b="1" lang="en-US" sz="7200" strike="noStrike" u="none">
                <a:solidFill>
                  <a:schemeClr val="lt1"/>
                </a:solidFill>
                <a:uFillTx/>
                <a:latin typeface="DeepSeek-CJK-patch"/>
              </a:rPr>
              <a:t>Key Features &amp; Capabilities</a:t>
            </a:r>
            <a:endParaRPr b="0" lang="en-US" sz="7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250" name="Group 39"/>
          <p:cNvGrpSpPr/>
          <p:nvPr/>
        </p:nvGrpSpPr>
        <p:grpSpPr>
          <a:xfrm>
            <a:off x="291600" y="943920"/>
            <a:ext cx="1224360" cy="1224360"/>
            <a:chOff x="291600" y="943920"/>
            <a:chExt cx="1224360" cy="1224360"/>
          </a:xfrm>
        </p:grpSpPr>
        <p:sp>
          <p:nvSpPr>
            <p:cNvPr id="251" name="Freeform 40"/>
            <p:cNvSpPr/>
            <p:nvPr/>
          </p:nvSpPr>
          <p:spPr>
            <a:xfrm rot="5400000">
              <a:off x="291240" y="94356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1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252" name="TextBox 41"/>
          <p:cNvSpPr/>
          <p:nvPr/>
        </p:nvSpPr>
        <p:spPr>
          <a:xfrm>
            <a:off x="173880" y="1201680"/>
            <a:ext cx="1455840" cy="8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817"/>
              </a:lnSpc>
            </a:pPr>
            <a:r>
              <a:rPr b="1" lang="en-US" sz="494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c.</a:t>
            </a:r>
            <a:endParaRPr b="0" lang="en-US" sz="494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3" name="TextBox 45"/>
          <p:cNvSpPr/>
          <p:nvPr/>
        </p:nvSpPr>
        <p:spPr>
          <a:xfrm>
            <a:off x="581040" y="2922840"/>
            <a:ext cx="12371400" cy="74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indent="-21600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1" lang="en-US" sz="3200" strike="noStrike" u="none">
                <a:solidFill>
                  <a:schemeClr val="lt1"/>
                </a:solidFill>
                <a:uFillTx/>
                <a:latin typeface="DeepSeek-CJK-patch"/>
              </a:rPr>
              <a:t>Supplier Management: 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DeepSeek-CJK-patch"/>
              </a:rPr>
              <a:t>Maintain supplier profiles, contracts, and performance history.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1" lang="en-US" sz="3200" strike="noStrike" u="none">
                <a:solidFill>
                  <a:schemeClr val="lt1"/>
                </a:solidFill>
                <a:uFillTx/>
                <a:latin typeface="DeepSeek-CJK-patch"/>
              </a:rPr>
              <a:t>Requisitions &amp; Purchase Orders (POs): 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DeepSeek-CJK-patch"/>
              </a:rPr>
              <a:t>Create, approve, and track POs (Standard, Blanket, Contract).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1" lang="en-US" sz="3200" strike="noStrike" u="none">
                <a:solidFill>
                  <a:schemeClr val="lt1"/>
                </a:solidFill>
                <a:uFillTx/>
                <a:latin typeface="DeepSeek-CJK-patch"/>
              </a:rPr>
              <a:t>Approval Workflows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DeepSeek-CJK-patch"/>
              </a:rPr>
              <a:t>: Automated routing based on rules (e.g., amount, department).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1" lang="en-US" sz="3200" strike="noStrike" u="none">
                <a:solidFill>
                  <a:schemeClr val="lt1"/>
                </a:solidFill>
                <a:uFillTx/>
                <a:latin typeface="DeepSeek-CJK-patch"/>
              </a:rPr>
              <a:t>Receiving &amp; Inspection: 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DeepSeek-CJK-patch"/>
              </a:rPr>
              <a:t>Record goods receipt, quality checks, and returns.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1" lang="en-US" sz="3200" strike="noStrike" u="none">
                <a:solidFill>
                  <a:schemeClr val="lt1"/>
                </a:solidFill>
                <a:uFillTx/>
                <a:latin typeface="DeepSeek-CJK-patch"/>
              </a:rPr>
              <a:t>Integration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DeepSeek-CJK-patch"/>
              </a:rPr>
              <a:t>: Seamless connection with Inventory, Payables, General Ledger.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54" name="Picture 2" descr="Download Free Capability Generic Outline Color icon Icons in PNG &amp; SVG"/>
          <p:cNvPicPr/>
          <p:nvPr/>
        </p:nvPicPr>
        <p:blipFill>
          <a:blip r:embed="rId20"/>
          <a:stretch/>
        </p:blipFill>
        <p:spPr>
          <a:xfrm>
            <a:off x="12852360" y="3343320"/>
            <a:ext cx="4876560" cy="4876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Freeform 8"/>
          <p:cNvSpPr/>
          <p:nvPr/>
        </p:nvSpPr>
        <p:spPr>
          <a:xfrm>
            <a:off x="5577120" y="3531600"/>
            <a:ext cx="721440" cy="1044360"/>
          </a:xfrm>
          <a:custGeom>
            <a:avLst/>
            <a:gdLst>
              <a:gd name="textAreaLeft" fmla="*/ 0 w 721440"/>
              <a:gd name="textAreaRight" fmla="*/ 721800 w 721440"/>
              <a:gd name="textAreaTop" fmla="*/ 0 h 1044360"/>
              <a:gd name="textAreaBottom" fmla="*/ 1044720 h 1044360"/>
            </a:gdLst>
            <a:ahLst/>
            <a:rect l="textAreaLeft" t="textAreaTop" r="textAreaRight" b="textAreaBottom"/>
            <a:pathLst>
              <a:path w="721898" h="1044852">
                <a:moveTo>
                  <a:pt x="0" y="0"/>
                </a:moveTo>
                <a:lnTo>
                  <a:pt x="721898" y="0"/>
                </a:lnTo>
                <a:lnTo>
                  <a:pt x="721898" y="1044852"/>
                </a:lnTo>
                <a:lnTo>
                  <a:pt x="0" y="10448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56" name="Freeform 9"/>
          <p:cNvSpPr/>
          <p:nvPr/>
        </p:nvSpPr>
        <p:spPr>
          <a:xfrm>
            <a:off x="11053800" y="3531600"/>
            <a:ext cx="1029600" cy="1040760"/>
          </a:xfrm>
          <a:custGeom>
            <a:avLst/>
            <a:gdLst>
              <a:gd name="textAreaLeft" fmla="*/ 0 w 1029600"/>
              <a:gd name="textAreaRight" fmla="*/ 1029960 w 1029600"/>
              <a:gd name="textAreaTop" fmla="*/ 0 h 1040760"/>
              <a:gd name="textAreaBottom" fmla="*/ 1041120 h 1040760"/>
            </a:gdLst>
            <a:ahLst/>
            <a:rect l="textAreaLeft" t="textAreaTop" r="textAreaRight" b="textAreaBottom"/>
            <a:pathLst>
              <a:path w="1029822" h="1041181">
                <a:moveTo>
                  <a:pt x="0" y="0"/>
                </a:moveTo>
                <a:lnTo>
                  <a:pt x="1029823" y="0"/>
                </a:lnTo>
                <a:lnTo>
                  <a:pt x="1029823" y="1041181"/>
                </a:lnTo>
                <a:lnTo>
                  <a:pt x="0" y="104118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257" name="Group 10"/>
          <p:cNvGrpSpPr/>
          <p:nvPr/>
        </p:nvGrpSpPr>
        <p:grpSpPr>
          <a:xfrm>
            <a:off x="15966720" y="9258840"/>
            <a:ext cx="13457520" cy="3263760"/>
            <a:chOff x="15966720" y="9258840"/>
            <a:chExt cx="13457520" cy="3263760"/>
          </a:xfrm>
        </p:grpSpPr>
        <p:sp>
          <p:nvSpPr>
            <p:cNvPr id="258" name="Freeform 11"/>
            <p:cNvSpPr/>
            <p:nvPr/>
          </p:nvSpPr>
          <p:spPr>
            <a:xfrm rot="10800000">
              <a:off x="26312400" y="9410760"/>
              <a:ext cx="3111840" cy="3111840"/>
            </a:xfrm>
            <a:custGeom>
              <a:avLst/>
              <a:gdLst>
                <a:gd name="textAreaLeft" fmla="*/ 0 w 3111840"/>
                <a:gd name="textAreaRight" fmla="*/ 3112200 w 3111840"/>
                <a:gd name="textAreaTop" fmla="*/ 0 h 3111840"/>
                <a:gd name="textAreaBottom" fmla="*/ 3112200 h 3111840"/>
              </a:gdLst>
              <a:ahLst/>
              <a:rect l="textAreaLeft" t="textAreaTop" r="textAreaRight" b="textAreaBottom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59" name="Freeform 12"/>
            <p:cNvSpPr/>
            <p:nvPr/>
          </p:nvSpPr>
          <p:spPr>
            <a:xfrm rot="10800000">
              <a:off x="22862520" y="9410760"/>
              <a:ext cx="3111840" cy="2465640"/>
            </a:xfrm>
            <a:custGeom>
              <a:avLst/>
              <a:gdLst>
                <a:gd name="textAreaLeft" fmla="*/ 0 w 3111840"/>
                <a:gd name="textAreaRight" fmla="*/ 3112200 w 3111840"/>
                <a:gd name="textAreaTop" fmla="*/ 0 h 2465640"/>
                <a:gd name="textAreaBottom" fmla="*/ 2466000 h 2465640"/>
              </a:gdLst>
              <a:ahLst/>
              <a:rect l="textAreaLeft" t="textAreaTop" r="textAreaRight" b="textAreaBottom"/>
              <a:pathLst>
                <a:path w="4149650" h="3288079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60" name="Freeform 13"/>
            <p:cNvSpPr/>
            <p:nvPr/>
          </p:nvSpPr>
          <p:spPr>
            <a:xfrm rot="10800000">
              <a:off x="19416960" y="9258840"/>
              <a:ext cx="3111840" cy="3111840"/>
            </a:xfrm>
            <a:custGeom>
              <a:avLst/>
              <a:gdLst>
                <a:gd name="textAreaLeft" fmla="*/ 0 w 3111840"/>
                <a:gd name="textAreaRight" fmla="*/ 3112200 w 3111840"/>
                <a:gd name="textAreaTop" fmla="*/ 0 h 3111840"/>
                <a:gd name="textAreaBottom" fmla="*/ 3112200 h 3111840"/>
              </a:gdLst>
              <a:ahLst/>
              <a:rect l="textAreaLeft" t="textAreaTop" r="textAreaRight" b="textAreaBottom"/>
              <a:pathLst>
                <a:path w="4149650" h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61" name="Freeform 14"/>
            <p:cNvSpPr/>
            <p:nvPr/>
          </p:nvSpPr>
          <p:spPr>
            <a:xfrm rot="10800000">
              <a:off x="15966720" y="9258840"/>
              <a:ext cx="3111840" cy="2465640"/>
            </a:xfrm>
            <a:custGeom>
              <a:avLst/>
              <a:gdLst>
                <a:gd name="textAreaLeft" fmla="*/ 0 w 3111840"/>
                <a:gd name="textAreaRight" fmla="*/ 3112200 w 3111840"/>
                <a:gd name="textAreaTop" fmla="*/ 0 h 2465640"/>
                <a:gd name="textAreaBottom" fmla="*/ 2466000 h 2465640"/>
              </a:gdLst>
              <a:ahLst/>
              <a:rect l="textAreaLeft" t="textAreaTop" r="textAreaRight" b="textAreaBottom"/>
              <a:pathLst>
                <a:path w="4149650" h="3288079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262" name="Freeform 15"/>
          <p:cNvSpPr/>
          <p:nvPr/>
        </p:nvSpPr>
        <p:spPr>
          <a:xfrm>
            <a:off x="14613840" y="-4787280"/>
            <a:ext cx="8754120" cy="8754120"/>
          </a:xfrm>
          <a:custGeom>
            <a:avLst/>
            <a:gdLst>
              <a:gd name="textAreaLeft" fmla="*/ 0 w 8754120"/>
              <a:gd name="textAreaRight" fmla="*/ 8754480 w 8754120"/>
              <a:gd name="textAreaTop" fmla="*/ 0 h 8754120"/>
              <a:gd name="textAreaBottom" fmla="*/ 8754480 h 8754120"/>
            </a:gdLst>
            <a:ahLst/>
            <a:rect l="textAreaLeft" t="textAreaTop" r="textAreaRight" b="textAreaBottom"/>
            <a:pathLst>
              <a:path w="8754599" h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263" name="Group 16"/>
          <p:cNvGrpSpPr/>
          <p:nvPr/>
        </p:nvGrpSpPr>
        <p:grpSpPr>
          <a:xfrm>
            <a:off x="15764040" y="-781920"/>
            <a:ext cx="1683720" cy="2405160"/>
            <a:chOff x="15764040" y="-781920"/>
            <a:chExt cx="1683720" cy="2405160"/>
          </a:xfrm>
        </p:grpSpPr>
        <p:sp>
          <p:nvSpPr>
            <p:cNvPr id="264" name="Freeform 17"/>
            <p:cNvSpPr/>
            <p:nvPr/>
          </p:nvSpPr>
          <p:spPr>
            <a:xfrm>
              <a:off x="15764040" y="-781920"/>
              <a:ext cx="1683720" cy="2405160"/>
            </a:xfrm>
            <a:custGeom>
              <a:avLst/>
              <a:gdLst>
                <a:gd name="textAreaLeft" fmla="*/ 0 w 1683720"/>
                <a:gd name="textAreaRight" fmla="*/ 1684080 w 1683720"/>
                <a:gd name="textAreaTop" fmla="*/ 0 h 2405160"/>
                <a:gd name="textAreaBottom" fmla="*/ 2405520 h 240516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65" name="Group 18"/>
          <p:cNvGrpSpPr/>
          <p:nvPr/>
        </p:nvGrpSpPr>
        <p:grpSpPr>
          <a:xfrm>
            <a:off x="796320" y="7930440"/>
            <a:ext cx="1683720" cy="2405160"/>
            <a:chOff x="796320" y="7930440"/>
            <a:chExt cx="1683720" cy="2405160"/>
          </a:xfrm>
        </p:grpSpPr>
        <p:sp>
          <p:nvSpPr>
            <p:cNvPr id="266" name="Freeform 19"/>
            <p:cNvSpPr/>
            <p:nvPr/>
          </p:nvSpPr>
          <p:spPr>
            <a:xfrm rot="10800000">
              <a:off x="796320" y="7930440"/>
              <a:ext cx="1683720" cy="2405160"/>
            </a:xfrm>
            <a:custGeom>
              <a:avLst/>
              <a:gdLst>
                <a:gd name="textAreaLeft" fmla="*/ 0 w 1683720"/>
                <a:gd name="textAreaRight" fmla="*/ 1684080 w 1683720"/>
                <a:gd name="textAreaTop" fmla="*/ 0 h 2405160"/>
                <a:gd name="textAreaBottom" fmla="*/ 2405520 h 240516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67" name="Group 20"/>
          <p:cNvGrpSpPr/>
          <p:nvPr/>
        </p:nvGrpSpPr>
        <p:grpSpPr>
          <a:xfrm>
            <a:off x="14472360" y="781920"/>
            <a:ext cx="841680" cy="841680"/>
            <a:chOff x="14472360" y="781920"/>
            <a:chExt cx="841680" cy="841680"/>
          </a:xfrm>
        </p:grpSpPr>
        <p:sp>
          <p:nvSpPr>
            <p:cNvPr id="268" name="Freeform 21"/>
            <p:cNvSpPr/>
            <p:nvPr/>
          </p:nvSpPr>
          <p:spPr>
            <a:xfrm rot="5400000">
              <a:off x="14472360" y="781920"/>
              <a:ext cx="841680" cy="841680"/>
            </a:xfrm>
            <a:custGeom>
              <a:avLst/>
              <a:gdLst>
                <a:gd name="textAreaLeft" fmla="*/ 0 w 841680"/>
                <a:gd name="textAreaRight" fmla="*/ 842040 w 841680"/>
                <a:gd name="textAreaTop" fmla="*/ 0 h 841680"/>
                <a:gd name="textAreaBottom" fmla="*/ 842040 h 84168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1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69" name="Group 22"/>
          <p:cNvGrpSpPr/>
          <p:nvPr/>
        </p:nvGrpSpPr>
        <p:grpSpPr>
          <a:xfrm>
            <a:off x="2930040" y="7930080"/>
            <a:ext cx="841680" cy="841680"/>
            <a:chOff x="2930040" y="7930080"/>
            <a:chExt cx="841680" cy="841680"/>
          </a:xfrm>
        </p:grpSpPr>
        <p:sp>
          <p:nvSpPr>
            <p:cNvPr id="270" name="Freeform 23"/>
            <p:cNvSpPr/>
            <p:nvPr/>
          </p:nvSpPr>
          <p:spPr>
            <a:xfrm rot="16200000">
              <a:off x="2930040" y="7930080"/>
              <a:ext cx="841680" cy="841680"/>
            </a:xfrm>
            <a:custGeom>
              <a:avLst/>
              <a:gdLst>
                <a:gd name="textAreaLeft" fmla="*/ 0 w 841680"/>
                <a:gd name="textAreaRight" fmla="*/ 842040 w 841680"/>
                <a:gd name="textAreaTop" fmla="*/ 0 h 841680"/>
                <a:gd name="textAreaBottom" fmla="*/ 842040 h 84168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1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71" name="Group 24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272" name="Freeform 25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73" name="Group 26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274" name="Freeform 27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75" name="Group 28"/>
          <p:cNvGrpSpPr/>
          <p:nvPr/>
        </p:nvGrpSpPr>
        <p:grpSpPr>
          <a:xfrm>
            <a:off x="5843520" y="7261200"/>
            <a:ext cx="94320" cy="2311560"/>
            <a:chOff x="5843520" y="7261200"/>
            <a:chExt cx="94320" cy="2311560"/>
          </a:xfrm>
        </p:grpSpPr>
        <p:sp>
          <p:nvSpPr>
            <p:cNvPr id="276" name="Freeform 29"/>
            <p:cNvSpPr/>
            <p:nvPr/>
          </p:nvSpPr>
          <p:spPr>
            <a:xfrm>
              <a:off x="5843520" y="7442280"/>
              <a:ext cx="94320" cy="213048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2130480"/>
                <a:gd name="textAreaBottom" fmla="*/ 2130840 h 2130480"/>
              </a:gdLst>
              <a:ahLst/>
              <a:rect l="textAreaLeft" t="textAreaTop" r="textAreaRight" b="textAreaBottom"/>
              <a:pathLst>
                <a:path w="24893" h="561223">
                  <a:moveTo>
                    <a:pt x="0" y="0"/>
                  </a:moveTo>
                  <a:lnTo>
                    <a:pt x="24893" y="0"/>
                  </a:lnTo>
                  <a:lnTo>
                    <a:pt x="24893" y="561223"/>
                  </a:lnTo>
                  <a:lnTo>
                    <a:pt x="0" y="561223"/>
                  </a:lnTo>
                  <a:close/>
                </a:path>
              </a:pathLst>
            </a:custGeom>
            <a:solidFill>
              <a:srgbClr val="145d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77" name="TextBox 30"/>
            <p:cNvSpPr/>
            <p:nvPr/>
          </p:nvSpPr>
          <p:spPr>
            <a:xfrm>
              <a:off x="5843520" y="7261200"/>
              <a:ext cx="94320" cy="2311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05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78" name="Group 31"/>
          <p:cNvGrpSpPr/>
          <p:nvPr/>
        </p:nvGrpSpPr>
        <p:grpSpPr>
          <a:xfrm>
            <a:off x="9309960" y="6423480"/>
            <a:ext cx="94320" cy="2311200"/>
            <a:chOff x="9309960" y="6423480"/>
            <a:chExt cx="94320" cy="2311200"/>
          </a:xfrm>
        </p:grpSpPr>
        <p:sp>
          <p:nvSpPr>
            <p:cNvPr id="279" name="Freeform 32"/>
            <p:cNvSpPr/>
            <p:nvPr/>
          </p:nvSpPr>
          <p:spPr>
            <a:xfrm>
              <a:off x="9309960" y="6604200"/>
              <a:ext cx="94320" cy="213048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2130480"/>
                <a:gd name="textAreaBottom" fmla="*/ 2130840 h 2130480"/>
              </a:gdLst>
              <a:ahLst/>
              <a:rect l="textAreaLeft" t="textAreaTop" r="textAreaRight" b="textAreaBottom"/>
              <a:pathLst>
                <a:path w="24893" h="561223">
                  <a:moveTo>
                    <a:pt x="0" y="0"/>
                  </a:moveTo>
                  <a:lnTo>
                    <a:pt x="24893" y="0"/>
                  </a:lnTo>
                  <a:lnTo>
                    <a:pt x="24893" y="561223"/>
                  </a:lnTo>
                  <a:lnTo>
                    <a:pt x="0" y="561223"/>
                  </a:lnTo>
                  <a:close/>
                </a:path>
              </a:pathLst>
            </a:custGeom>
            <a:solidFill>
              <a:srgbClr val="145d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280" name="TextBox 33"/>
            <p:cNvSpPr/>
            <p:nvPr/>
          </p:nvSpPr>
          <p:spPr>
            <a:xfrm>
              <a:off x="9309960" y="6423480"/>
              <a:ext cx="94320" cy="2311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05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281" name="TextBox 35"/>
          <p:cNvSpPr/>
          <p:nvPr/>
        </p:nvSpPr>
        <p:spPr>
          <a:xfrm>
            <a:off x="1222920" y="1535760"/>
            <a:ext cx="1593756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481"/>
              </a:lnSpc>
            </a:pPr>
            <a:r>
              <a:rPr b="1" lang="en-US" sz="7200" strike="noStrike" u="none">
                <a:solidFill>
                  <a:schemeClr val="lt1"/>
                </a:solidFill>
                <a:uFillTx/>
                <a:latin typeface="DeepSeek-CJK-patch"/>
              </a:rPr>
              <a:t>Business Benefits</a:t>
            </a:r>
            <a:endParaRPr b="0" lang="en-US" sz="7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282" name="Group 39"/>
          <p:cNvGrpSpPr/>
          <p:nvPr/>
        </p:nvGrpSpPr>
        <p:grpSpPr>
          <a:xfrm>
            <a:off x="291600" y="943920"/>
            <a:ext cx="1224360" cy="1224360"/>
            <a:chOff x="291600" y="943920"/>
            <a:chExt cx="1224360" cy="1224360"/>
          </a:xfrm>
        </p:grpSpPr>
        <p:sp>
          <p:nvSpPr>
            <p:cNvPr id="283" name="Freeform 40"/>
            <p:cNvSpPr/>
            <p:nvPr/>
          </p:nvSpPr>
          <p:spPr>
            <a:xfrm rot="5400000">
              <a:off x="291240" y="94356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1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284" name="TextBox 41"/>
          <p:cNvSpPr/>
          <p:nvPr/>
        </p:nvSpPr>
        <p:spPr>
          <a:xfrm>
            <a:off x="173880" y="1201680"/>
            <a:ext cx="1455840" cy="8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817"/>
              </a:lnSpc>
            </a:pPr>
            <a:r>
              <a:rPr b="1" lang="en-US" sz="494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d.</a:t>
            </a:r>
            <a:endParaRPr b="0" lang="en-US" sz="494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5" name="TextBox 45"/>
          <p:cNvSpPr/>
          <p:nvPr/>
        </p:nvSpPr>
        <p:spPr>
          <a:xfrm>
            <a:off x="581040" y="2922840"/>
            <a:ext cx="12371400" cy="643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indent="-21600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1" lang="en-US" sz="3200" strike="noStrike" u="none">
                <a:solidFill>
                  <a:schemeClr val="lt1"/>
                </a:solidFill>
                <a:uFillTx/>
                <a:latin typeface="DeepSeek-CJK-patch"/>
              </a:rPr>
              <a:t>Cost Savings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DeepSeek-CJK-patch"/>
              </a:rPr>
              <a:t>: Negotiate better terms, avoid maverick spending.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-45720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1" lang="en-US" sz="3200" strike="noStrike" u="none">
                <a:solidFill>
                  <a:schemeClr val="lt1"/>
                </a:solidFill>
                <a:uFillTx/>
                <a:latin typeface="DeepSeek-CJK-patch"/>
              </a:rPr>
              <a:t>Efficiency: 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DeepSeek-CJK-patch"/>
              </a:rPr>
              <a:t>Reduce manual paperwork, automate approvals.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-45720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1" lang="en-US" sz="3200" strike="noStrike" u="none">
                <a:solidFill>
                  <a:schemeClr val="lt1"/>
                </a:solidFill>
                <a:uFillTx/>
                <a:latin typeface="DeepSeek-CJK-patch"/>
              </a:rPr>
              <a:t>Visibility: 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DeepSeek-CJK-patch"/>
              </a:rPr>
              <a:t>Real-time tracking of orders, budgets, and supplier performance.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-45720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1" lang="en-US" sz="3200" strike="noStrike" u="none">
                <a:solidFill>
                  <a:schemeClr val="lt1"/>
                </a:solidFill>
                <a:uFillTx/>
                <a:latin typeface="DeepSeek-CJK-patch"/>
              </a:rPr>
              <a:t>Compliance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DeepSeek-CJK-patch"/>
              </a:rPr>
              <a:t>: Enforce approval hierarchies and audit trails.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86" name="Picture 6" descr="Business Benefits Icon - Free Download People Icons | IconScout"/>
          <p:cNvPicPr/>
          <p:nvPr/>
        </p:nvPicPr>
        <p:blipFill>
          <a:blip r:embed="rId20"/>
          <a:stretch/>
        </p:blipFill>
        <p:spPr>
          <a:xfrm>
            <a:off x="11375640" y="3700080"/>
            <a:ext cx="5169240" cy="5169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288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89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290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91" name="Group 6"/>
          <p:cNvGrpSpPr/>
          <p:nvPr/>
        </p:nvGrpSpPr>
        <p:grpSpPr>
          <a:xfrm>
            <a:off x="1028880" y="1028880"/>
            <a:ext cx="5760360" cy="8229240"/>
            <a:chOff x="1028880" y="1028880"/>
            <a:chExt cx="5760360" cy="8229240"/>
          </a:xfrm>
        </p:grpSpPr>
        <p:sp>
          <p:nvSpPr>
            <p:cNvPr id="292" name="Freeform 7"/>
            <p:cNvSpPr/>
            <p:nvPr/>
          </p:nvSpPr>
          <p:spPr>
            <a:xfrm>
              <a:off x="1028880" y="1028880"/>
              <a:ext cx="5760360" cy="8229240"/>
            </a:xfrm>
            <a:custGeom>
              <a:avLst/>
              <a:gdLst>
                <a:gd name="textAreaLeft" fmla="*/ 0 w 5760360"/>
                <a:gd name="textAreaRight" fmla="*/ 5760720 w 5760360"/>
                <a:gd name="textAreaTop" fmla="*/ 0 h 8229240"/>
                <a:gd name="textAreaBottom" fmla="*/ 8229600 h 822924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3">
                <a:alphaModFix amt="2400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93" name="Group 8"/>
          <p:cNvGrpSpPr/>
          <p:nvPr/>
        </p:nvGrpSpPr>
        <p:grpSpPr>
          <a:xfrm>
            <a:off x="1029240" y="1029240"/>
            <a:ext cx="5760360" cy="8229240"/>
            <a:chOff x="1029240" y="1029240"/>
            <a:chExt cx="5760360" cy="8229240"/>
          </a:xfrm>
        </p:grpSpPr>
        <p:sp>
          <p:nvSpPr>
            <p:cNvPr id="294" name="Freeform 9"/>
            <p:cNvSpPr/>
            <p:nvPr/>
          </p:nvSpPr>
          <p:spPr>
            <a:xfrm rot="10800000">
              <a:off x="1029240" y="1029240"/>
              <a:ext cx="5760360" cy="8229240"/>
            </a:xfrm>
            <a:custGeom>
              <a:avLst/>
              <a:gdLst>
                <a:gd name="textAreaLeft" fmla="*/ 0 w 5760360"/>
                <a:gd name="textAreaRight" fmla="*/ 5760720 w 5760360"/>
                <a:gd name="textAreaTop" fmla="*/ 0 h 8229240"/>
                <a:gd name="textAreaBottom" fmla="*/ 8229600 h 822924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295" name="TextBox 10"/>
          <p:cNvSpPr/>
          <p:nvPr/>
        </p:nvSpPr>
        <p:spPr>
          <a:xfrm>
            <a:off x="998280" y="2552760"/>
            <a:ext cx="5760360" cy="38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603"/>
              </a:lnSpc>
            </a:pPr>
            <a:r>
              <a:rPr b="1" lang="en-US" sz="600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Project Implementation</a:t>
            </a:r>
            <a:endParaRPr b="0" lang="en-US" sz="6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 defTabSz="914400">
              <a:lnSpc>
                <a:spcPts val="7603"/>
              </a:lnSpc>
              <a:tabLst>
                <a:tab algn="l" pos="0"/>
              </a:tabLst>
            </a:pPr>
            <a:endParaRPr b="0" lang="en-US" sz="6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96" name="Picture 2" descr="Oracle E-Business Suite ERP Solution Overview | Compare Oracle EBS ERP"/>
          <p:cNvPicPr/>
          <p:nvPr/>
        </p:nvPicPr>
        <p:blipFill>
          <a:blip r:embed="rId5"/>
          <a:stretch/>
        </p:blipFill>
        <p:spPr>
          <a:xfrm>
            <a:off x="1049760" y="4726800"/>
            <a:ext cx="5657040" cy="176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7" name="TextBox 47"/>
          <p:cNvSpPr/>
          <p:nvPr/>
        </p:nvSpPr>
        <p:spPr>
          <a:xfrm>
            <a:off x="1592640" y="6927480"/>
            <a:ext cx="48765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4000" strike="noStrike" u="none">
                <a:solidFill>
                  <a:schemeClr val="lt1"/>
                </a:solidFill>
                <a:uFillTx/>
                <a:latin typeface="Calibri"/>
              </a:rPr>
              <a:t>Purchasing Module</a:t>
            </a:r>
            <a:endParaRPr b="0" lang="en-US" sz="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roup 2"/>
          <p:cNvGrpSpPr/>
          <p:nvPr/>
        </p:nvGrpSpPr>
        <p:grpSpPr>
          <a:xfrm>
            <a:off x="1393200" y="3029400"/>
            <a:ext cx="911520" cy="911520"/>
            <a:chOff x="1393200" y="3029400"/>
            <a:chExt cx="911520" cy="911520"/>
          </a:xfrm>
        </p:grpSpPr>
        <p:sp>
          <p:nvSpPr>
            <p:cNvPr id="299" name="Freeform 3"/>
            <p:cNvSpPr/>
            <p:nvPr/>
          </p:nvSpPr>
          <p:spPr>
            <a:xfrm>
              <a:off x="1393200" y="3029400"/>
              <a:ext cx="911520" cy="911520"/>
            </a:xfrm>
            <a:custGeom>
              <a:avLst/>
              <a:gdLst>
                <a:gd name="textAreaLeft" fmla="*/ 0 w 911520"/>
                <a:gd name="textAreaRight" fmla="*/ 911880 w 911520"/>
                <a:gd name="textAreaTop" fmla="*/ 0 h 911520"/>
                <a:gd name="textAreaBottom" fmla="*/ 911880 h 9115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300" name="TextBox 4"/>
            <p:cNvSpPr/>
            <p:nvPr/>
          </p:nvSpPr>
          <p:spPr>
            <a:xfrm>
              <a:off x="1478880" y="3061440"/>
              <a:ext cx="740520" cy="79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05"/>
                </a:lnSpc>
              </a:pPr>
              <a:endParaRPr b="0" lang="en-US" sz="2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301" name="Group 5"/>
          <p:cNvGrpSpPr/>
          <p:nvPr/>
        </p:nvGrpSpPr>
        <p:grpSpPr>
          <a:xfrm>
            <a:off x="2322360" y="3824280"/>
            <a:ext cx="911520" cy="911520"/>
            <a:chOff x="2322360" y="3824280"/>
            <a:chExt cx="911520" cy="911520"/>
          </a:xfrm>
        </p:grpSpPr>
        <p:sp>
          <p:nvSpPr>
            <p:cNvPr id="302" name="Freeform 6"/>
            <p:cNvSpPr/>
            <p:nvPr/>
          </p:nvSpPr>
          <p:spPr>
            <a:xfrm>
              <a:off x="2322360" y="3824280"/>
              <a:ext cx="911520" cy="911520"/>
            </a:xfrm>
            <a:custGeom>
              <a:avLst/>
              <a:gdLst>
                <a:gd name="textAreaLeft" fmla="*/ 0 w 911520"/>
                <a:gd name="textAreaRight" fmla="*/ 911880 w 911520"/>
                <a:gd name="textAreaTop" fmla="*/ 0 h 911520"/>
                <a:gd name="textAreaBottom" fmla="*/ 911880 h 9115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303" name="TextBox 7"/>
            <p:cNvSpPr/>
            <p:nvPr/>
          </p:nvSpPr>
          <p:spPr>
            <a:xfrm>
              <a:off x="2407680" y="3856320"/>
              <a:ext cx="740520" cy="79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05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304" name="Group 8"/>
          <p:cNvGrpSpPr/>
          <p:nvPr/>
        </p:nvGrpSpPr>
        <p:grpSpPr>
          <a:xfrm>
            <a:off x="1090080" y="6207480"/>
            <a:ext cx="911520" cy="911520"/>
            <a:chOff x="1090080" y="6207480"/>
            <a:chExt cx="911520" cy="911520"/>
          </a:xfrm>
        </p:grpSpPr>
        <p:sp>
          <p:nvSpPr>
            <p:cNvPr id="305" name="Freeform 9"/>
            <p:cNvSpPr/>
            <p:nvPr/>
          </p:nvSpPr>
          <p:spPr>
            <a:xfrm>
              <a:off x="1090080" y="6207480"/>
              <a:ext cx="911520" cy="911520"/>
            </a:xfrm>
            <a:custGeom>
              <a:avLst/>
              <a:gdLst>
                <a:gd name="textAreaLeft" fmla="*/ 0 w 911520"/>
                <a:gd name="textAreaRight" fmla="*/ 911880 w 911520"/>
                <a:gd name="textAreaTop" fmla="*/ 0 h 911520"/>
                <a:gd name="textAreaBottom" fmla="*/ 911880 h 9115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306" name="TextBox 10"/>
            <p:cNvSpPr/>
            <p:nvPr/>
          </p:nvSpPr>
          <p:spPr>
            <a:xfrm>
              <a:off x="1175400" y="6239520"/>
              <a:ext cx="740520" cy="79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05"/>
                </a:lnSpc>
              </a:pPr>
              <a:endParaRPr b="0" lang="en-US" sz="2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307" name="Group 11"/>
          <p:cNvGrpSpPr/>
          <p:nvPr/>
        </p:nvGrpSpPr>
        <p:grpSpPr>
          <a:xfrm>
            <a:off x="1143000" y="7355880"/>
            <a:ext cx="911520" cy="911520"/>
            <a:chOff x="1143000" y="7355880"/>
            <a:chExt cx="911520" cy="911520"/>
          </a:xfrm>
        </p:grpSpPr>
        <p:sp>
          <p:nvSpPr>
            <p:cNvPr id="308" name="Freeform 12"/>
            <p:cNvSpPr/>
            <p:nvPr/>
          </p:nvSpPr>
          <p:spPr>
            <a:xfrm>
              <a:off x="1143000" y="7355880"/>
              <a:ext cx="911520" cy="911520"/>
            </a:xfrm>
            <a:custGeom>
              <a:avLst/>
              <a:gdLst>
                <a:gd name="textAreaLeft" fmla="*/ 0 w 911520"/>
                <a:gd name="textAreaRight" fmla="*/ 911880 w 911520"/>
                <a:gd name="textAreaTop" fmla="*/ 0 h 911520"/>
                <a:gd name="textAreaBottom" fmla="*/ 911880 h 9115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309" name="TextBox 13"/>
            <p:cNvSpPr/>
            <p:nvPr/>
          </p:nvSpPr>
          <p:spPr>
            <a:xfrm>
              <a:off x="1228320" y="7387920"/>
              <a:ext cx="740520" cy="79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05"/>
                </a:lnSpc>
              </a:pPr>
              <a:endParaRPr b="0" lang="en-US" sz="2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310" name="Group 14"/>
          <p:cNvGrpSpPr/>
          <p:nvPr/>
        </p:nvGrpSpPr>
        <p:grpSpPr>
          <a:xfrm>
            <a:off x="10016640" y="-1489680"/>
            <a:ext cx="4201920" cy="6002640"/>
            <a:chOff x="10016640" y="-1489680"/>
            <a:chExt cx="4201920" cy="6002640"/>
          </a:xfrm>
        </p:grpSpPr>
        <p:sp>
          <p:nvSpPr>
            <p:cNvPr id="311" name="Freeform 15"/>
            <p:cNvSpPr/>
            <p:nvPr/>
          </p:nvSpPr>
          <p:spPr>
            <a:xfrm>
              <a:off x="10016640" y="-1489680"/>
              <a:ext cx="4201920" cy="6002640"/>
            </a:xfrm>
            <a:custGeom>
              <a:avLst/>
              <a:gdLst>
                <a:gd name="textAreaLeft" fmla="*/ 0 w 4201920"/>
                <a:gd name="textAreaRight" fmla="*/ 4202280 w 4201920"/>
                <a:gd name="textAreaTop" fmla="*/ 0 h 6002640"/>
                <a:gd name="textAreaBottom" fmla="*/ 6003000 h 600264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312" name="Group 16"/>
          <p:cNvGrpSpPr/>
          <p:nvPr/>
        </p:nvGrpSpPr>
        <p:grpSpPr>
          <a:xfrm>
            <a:off x="16606440" y="8402040"/>
            <a:ext cx="841680" cy="841680"/>
            <a:chOff x="16606440" y="8402040"/>
            <a:chExt cx="841680" cy="841680"/>
          </a:xfrm>
        </p:grpSpPr>
        <p:sp>
          <p:nvSpPr>
            <p:cNvPr id="313" name="Freeform 17"/>
            <p:cNvSpPr/>
            <p:nvPr/>
          </p:nvSpPr>
          <p:spPr>
            <a:xfrm rot="5400000">
              <a:off x="16606440" y="8402040"/>
              <a:ext cx="841680" cy="841680"/>
            </a:xfrm>
            <a:custGeom>
              <a:avLst/>
              <a:gdLst>
                <a:gd name="textAreaLeft" fmla="*/ 0 w 841680"/>
                <a:gd name="textAreaRight" fmla="*/ 842040 w 841680"/>
                <a:gd name="textAreaTop" fmla="*/ 0 h 841680"/>
                <a:gd name="textAreaBottom" fmla="*/ 842040 h 84168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314" name="Group 18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315" name="Freeform 19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316" name="TextBox 20"/>
          <p:cNvSpPr/>
          <p:nvPr/>
        </p:nvSpPr>
        <p:spPr>
          <a:xfrm>
            <a:off x="2766960" y="1477080"/>
            <a:ext cx="7537320" cy="189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472"/>
              </a:lnSpc>
              <a:tabLst>
                <a:tab algn="l" pos="0"/>
              </a:tabLst>
            </a:pPr>
            <a:r>
              <a:rPr b="1" lang="en-US" sz="622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Define Currencies</a:t>
            </a:r>
            <a:endParaRPr b="0" lang="en-US" sz="622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7" name="TextBox 21"/>
          <p:cNvSpPr/>
          <p:nvPr/>
        </p:nvSpPr>
        <p:spPr>
          <a:xfrm>
            <a:off x="1376280" y="3104640"/>
            <a:ext cx="879840" cy="70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25"/>
              </a:lnSpc>
              <a:tabLst>
                <a:tab algn="l" pos="0"/>
              </a:tabLst>
            </a:pPr>
            <a:r>
              <a:rPr b="1" lang="en-US" sz="4009" strike="noStrike" u="none">
                <a:solidFill>
                  <a:srgbClr val="051d40"/>
                </a:solidFill>
                <a:uFillTx/>
                <a:latin typeface="Almarai Bold"/>
                <a:ea typeface="Almarai Bold"/>
              </a:rPr>
              <a:t>01</a:t>
            </a:r>
            <a:endParaRPr b="0" lang="en-US" sz="4009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8" name="TextBox 22"/>
          <p:cNvSpPr/>
          <p:nvPr/>
        </p:nvSpPr>
        <p:spPr>
          <a:xfrm>
            <a:off x="2305080" y="3899520"/>
            <a:ext cx="879840" cy="70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25"/>
              </a:lnSpc>
              <a:tabLst>
                <a:tab algn="l" pos="0"/>
              </a:tabLst>
            </a:pPr>
            <a:r>
              <a:rPr b="1" lang="en-US" sz="4009" strike="noStrike" u="none">
                <a:solidFill>
                  <a:srgbClr val="051d40"/>
                </a:solidFill>
                <a:uFillTx/>
                <a:latin typeface="Almarai Bold"/>
                <a:ea typeface="Almarai Bold"/>
              </a:rPr>
              <a:t>a</a:t>
            </a:r>
            <a:endParaRPr b="0" lang="en-US" sz="4009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9" name="TextBox 23"/>
          <p:cNvSpPr/>
          <p:nvPr/>
        </p:nvSpPr>
        <p:spPr>
          <a:xfrm>
            <a:off x="3529800" y="6152760"/>
            <a:ext cx="879840" cy="14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25"/>
              </a:lnSpc>
              <a:tabLst>
                <a:tab algn="l" pos="0"/>
              </a:tabLst>
            </a:pPr>
            <a:r>
              <a:rPr b="1" lang="en-US" sz="5400" strike="noStrike" u="none">
                <a:solidFill>
                  <a:srgbClr val="051d40"/>
                </a:solidFill>
                <a:uFillTx/>
                <a:latin typeface="Almarai Bold"/>
                <a:ea typeface="Almarai Bold"/>
              </a:rPr>
              <a:t>03</a:t>
            </a:r>
            <a:endParaRPr b="0" lang="en-US" sz="5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0" name="TextBox 24"/>
          <p:cNvSpPr/>
          <p:nvPr/>
        </p:nvSpPr>
        <p:spPr>
          <a:xfrm>
            <a:off x="1177200" y="7436880"/>
            <a:ext cx="879840" cy="70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25"/>
              </a:lnSpc>
              <a:tabLst>
                <a:tab algn="l" pos="0"/>
              </a:tabLst>
            </a:pPr>
            <a:r>
              <a:rPr b="1" lang="en-US" sz="4009" strike="noStrike" u="none">
                <a:solidFill>
                  <a:srgbClr val="051d40"/>
                </a:solidFill>
                <a:uFillTx/>
                <a:latin typeface="Almarai Bold"/>
                <a:ea typeface="Almarai Bold"/>
              </a:rPr>
              <a:t>03</a:t>
            </a:r>
            <a:endParaRPr b="0" lang="en-US" sz="4009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1" name="TextBox 25"/>
          <p:cNvSpPr/>
          <p:nvPr/>
        </p:nvSpPr>
        <p:spPr>
          <a:xfrm>
            <a:off x="2600640" y="3051360"/>
            <a:ext cx="6138720" cy="76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05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uFillTx/>
                <a:latin typeface="Almarai"/>
                <a:ea typeface="Almarai"/>
              </a:rPr>
              <a:t>This project will utilize two currencies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2" name="TextBox 26"/>
          <p:cNvSpPr/>
          <p:nvPr/>
        </p:nvSpPr>
        <p:spPr>
          <a:xfrm>
            <a:off x="3529800" y="3846240"/>
            <a:ext cx="613872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05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uFillTx/>
                <a:latin typeface="Almarai"/>
                <a:ea typeface="Almarai"/>
              </a:rPr>
              <a:t>Digital USD (MSA_DUSD)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3" name="TextBox 27"/>
          <p:cNvSpPr/>
          <p:nvPr/>
        </p:nvSpPr>
        <p:spPr>
          <a:xfrm>
            <a:off x="2219760" y="6257160"/>
            <a:ext cx="7703280" cy="11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05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uFillTx/>
                <a:latin typeface="Almarai"/>
                <a:ea typeface="Almarai"/>
              </a:rPr>
              <a:t>Both currencies were defined in the Virtual machine, but we have redefined both.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4" name="TextBox 28"/>
          <p:cNvSpPr/>
          <p:nvPr/>
        </p:nvSpPr>
        <p:spPr>
          <a:xfrm>
            <a:off x="2256120" y="7551720"/>
            <a:ext cx="8048160" cy="76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05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uFillTx/>
                <a:latin typeface="Almarai"/>
                <a:ea typeface="Almarai"/>
              </a:rPr>
              <a:t>Required Responsibility: General Ledger super user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325" name="Group 31"/>
          <p:cNvGrpSpPr/>
          <p:nvPr/>
        </p:nvGrpSpPr>
        <p:grpSpPr>
          <a:xfrm>
            <a:off x="16606080" y="1203120"/>
            <a:ext cx="5246280" cy="7494840"/>
            <a:chOff x="16606080" y="1203120"/>
            <a:chExt cx="5246280" cy="7494840"/>
          </a:xfrm>
        </p:grpSpPr>
        <p:sp>
          <p:nvSpPr>
            <p:cNvPr id="326" name="Freeform 32"/>
            <p:cNvSpPr/>
            <p:nvPr/>
          </p:nvSpPr>
          <p:spPr>
            <a:xfrm rot="10800000">
              <a:off x="16606080" y="1203120"/>
              <a:ext cx="5246280" cy="7494840"/>
            </a:xfrm>
            <a:custGeom>
              <a:avLst/>
              <a:gdLst>
                <a:gd name="textAreaLeft" fmla="*/ 0 w 5246280"/>
                <a:gd name="textAreaRight" fmla="*/ 5246640 w 5246280"/>
                <a:gd name="textAreaTop" fmla="*/ 0 h 7494840"/>
                <a:gd name="textAreaBottom" fmla="*/ 7495200 h 749484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327" name="Group 33"/>
          <p:cNvGrpSpPr/>
          <p:nvPr/>
        </p:nvGrpSpPr>
        <p:grpSpPr>
          <a:xfrm>
            <a:off x="1144800" y="1337760"/>
            <a:ext cx="1224360" cy="1224360"/>
            <a:chOff x="1144800" y="1337760"/>
            <a:chExt cx="1224360" cy="1224360"/>
          </a:xfrm>
        </p:grpSpPr>
        <p:sp>
          <p:nvSpPr>
            <p:cNvPr id="328" name="Freeform 34"/>
            <p:cNvSpPr/>
            <p:nvPr/>
          </p:nvSpPr>
          <p:spPr>
            <a:xfrm rot="5400000">
              <a:off x="1144440" y="13374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pic>
        <p:nvPicPr>
          <p:cNvPr id="329" name="Picture 35" descr=""/>
          <p:cNvPicPr/>
          <p:nvPr/>
        </p:nvPicPr>
        <p:blipFill>
          <a:blip r:embed="rId6"/>
          <a:stretch/>
        </p:blipFill>
        <p:spPr>
          <a:xfrm>
            <a:off x="11155680" y="1836360"/>
            <a:ext cx="6860160" cy="62784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30" name="Group 5"/>
          <p:cNvGrpSpPr/>
          <p:nvPr/>
        </p:nvGrpSpPr>
        <p:grpSpPr>
          <a:xfrm>
            <a:off x="2302920" y="4967280"/>
            <a:ext cx="911520" cy="911520"/>
            <a:chOff x="2302920" y="4967280"/>
            <a:chExt cx="911520" cy="911520"/>
          </a:xfrm>
        </p:grpSpPr>
        <p:sp>
          <p:nvSpPr>
            <p:cNvPr id="331" name="Freeform 6"/>
            <p:cNvSpPr/>
            <p:nvPr/>
          </p:nvSpPr>
          <p:spPr>
            <a:xfrm>
              <a:off x="2302920" y="4967280"/>
              <a:ext cx="911520" cy="911520"/>
            </a:xfrm>
            <a:custGeom>
              <a:avLst/>
              <a:gdLst>
                <a:gd name="textAreaLeft" fmla="*/ 0 w 911520"/>
                <a:gd name="textAreaRight" fmla="*/ 911880 w 911520"/>
                <a:gd name="textAreaTop" fmla="*/ 0 h 911520"/>
                <a:gd name="textAreaBottom" fmla="*/ 911880 h 9115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332" name="TextBox 7"/>
            <p:cNvSpPr/>
            <p:nvPr/>
          </p:nvSpPr>
          <p:spPr>
            <a:xfrm>
              <a:off x="2388600" y="4999320"/>
              <a:ext cx="740520" cy="79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05"/>
                </a:lnSpc>
              </a:pPr>
              <a:endParaRPr b="0" lang="en-US" sz="2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333" name="TextBox 22"/>
          <p:cNvSpPr/>
          <p:nvPr/>
        </p:nvSpPr>
        <p:spPr>
          <a:xfrm>
            <a:off x="2286000" y="5042520"/>
            <a:ext cx="879840" cy="70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25"/>
              </a:lnSpc>
              <a:tabLst>
                <a:tab algn="l" pos="0"/>
              </a:tabLst>
            </a:pPr>
            <a:r>
              <a:rPr b="1" lang="en-US" sz="5400" strike="noStrike" u="none">
                <a:solidFill>
                  <a:srgbClr val="051d40"/>
                </a:solidFill>
                <a:uFillTx/>
                <a:latin typeface="Almarai Bold"/>
                <a:ea typeface="Almarai Bold"/>
              </a:rPr>
              <a:t>b</a:t>
            </a:r>
            <a:endParaRPr b="0" lang="en-US" sz="5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4" name="TextBox 26"/>
          <p:cNvSpPr/>
          <p:nvPr/>
        </p:nvSpPr>
        <p:spPr>
          <a:xfrm>
            <a:off x="3510360" y="4989240"/>
            <a:ext cx="613872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05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uFillTx/>
                <a:latin typeface="Almarai"/>
                <a:ea typeface="Almarai"/>
              </a:rPr>
              <a:t>Bitcoin (MSA_BIT)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5" name="TextBox 21"/>
          <p:cNvSpPr/>
          <p:nvPr/>
        </p:nvSpPr>
        <p:spPr>
          <a:xfrm>
            <a:off x="1090080" y="6344640"/>
            <a:ext cx="879840" cy="70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25"/>
              </a:lnSpc>
              <a:tabLst>
                <a:tab algn="l" pos="0"/>
              </a:tabLst>
            </a:pPr>
            <a:r>
              <a:rPr b="1" lang="en-US" sz="4009" strike="noStrike" u="none">
                <a:solidFill>
                  <a:srgbClr val="051d40"/>
                </a:solidFill>
                <a:uFillTx/>
                <a:latin typeface="Almarai Bold"/>
                <a:ea typeface="Almarai Bold"/>
              </a:rPr>
              <a:t>02</a:t>
            </a:r>
            <a:endParaRPr b="0" lang="en-US" sz="4009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336" name="Group 11"/>
          <p:cNvGrpSpPr/>
          <p:nvPr/>
        </p:nvGrpSpPr>
        <p:grpSpPr>
          <a:xfrm>
            <a:off x="1143000" y="8498880"/>
            <a:ext cx="911520" cy="911520"/>
            <a:chOff x="1143000" y="8498880"/>
            <a:chExt cx="911520" cy="911520"/>
          </a:xfrm>
        </p:grpSpPr>
        <p:sp>
          <p:nvSpPr>
            <p:cNvPr id="337" name="Freeform 12"/>
            <p:cNvSpPr/>
            <p:nvPr/>
          </p:nvSpPr>
          <p:spPr>
            <a:xfrm>
              <a:off x="1143000" y="8498880"/>
              <a:ext cx="911520" cy="911520"/>
            </a:xfrm>
            <a:custGeom>
              <a:avLst/>
              <a:gdLst>
                <a:gd name="textAreaLeft" fmla="*/ 0 w 911520"/>
                <a:gd name="textAreaRight" fmla="*/ 911880 w 911520"/>
                <a:gd name="textAreaTop" fmla="*/ 0 h 911520"/>
                <a:gd name="textAreaBottom" fmla="*/ 911880 h 9115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338" name="TextBox 13"/>
            <p:cNvSpPr/>
            <p:nvPr/>
          </p:nvSpPr>
          <p:spPr>
            <a:xfrm>
              <a:off x="1228320" y="8530920"/>
              <a:ext cx="740520" cy="79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05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339" name="TextBox 24"/>
          <p:cNvSpPr/>
          <p:nvPr/>
        </p:nvSpPr>
        <p:spPr>
          <a:xfrm>
            <a:off x="1177200" y="8579880"/>
            <a:ext cx="879840" cy="14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25"/>
              </a:lnSpc>
              <a:tabLst>
                <a:tab algn="l" pos="0"/>
              </a:tabLst>
            </a:pPr>
            <a:r>
              <a:rPr b="1" lang="en-US" sz="5400" strike="noStrike" u="none">
                <a:solidFill>
                  <a:srgbClr val="051d40"/>
                </a:solidFill>
                <a:uFillTx/>
                <a:latin typeface="Almarai Bold"/>
                <a:ea typeface="Almarai Bold"/>
              </a:rPr>
              <a:t>04</a:t>
            </a:r>
            <a:endParaRPr b="0" lang="en-US" sz="5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40" name="TextBox 28"/>
          <p:cNvSpPr/>
          <p:nvPr/>
        </p:nvSpPr>
        <p:spPr>
          <a:xfrm>
            <a:off x="2256120" y="8694720"/>
            <a:ext cx="6138720" cy="7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05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uFillTx/>
                <a:latin typeface="Almarai"/>
                <a:ea typeface="Almarai"/>
              </a:rPr>
              <a:t>Path : setup &gt; currencies &gt; define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41" name="Picture 48" descr=""/>
          <p:cNvPicPr/>
          <p:nvPr/>
        </p:nvPicPr>
        <p:blipFill>
          <a:blip r:embed="rId7"/>
          <a:stretch/>
        </p:blipFill>
        <p:spPr>
          <a:xfrm>
            <a:off x="8356320" y="8694720"/>
            <a:ext cx="9931320" cy="1538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343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344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345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346" name="TextBox 8"/>
          <p:cNvSpPr/>
          <p:nvPr/>
        </p:nvSpPr>
        <p:spPr>
          <a:xfrm>
            <a:off x="3141000" y="1557000"/>
            <a:ext cx="7296840" cy="153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035"/>
              </a:lnSpc>
              <a:tabLst>
                <a:tab algn="l" pos="0"/>
              </a:tabLst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Define New Calendar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47" name="Freeform 10"/>
          <p:cNvSpPr/>
          <p:nvPr/>
        </p:nvSpPr>
        <p:spPr>
          <a:xfrm>
            <a:off x="10517400" y="241776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48" name="TextBox 11"/>
          <p:cNvSpPr/>
          <p:nvPr/>
        </p:nvSpPr>
        <p:spPr>
          <a:xfrm>
            <a:off x="1768320" y="2800800"/>
            <a:ext cx="7296840" cy="16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355"/>
              </a:lnSpc>
              <a:tabLst>
                <a:tab algn="l" pos="0"/>
              </a:tabLst>
            </a:pPr>
            <a:r>
              <a:rPr b="1" lang="en-US" sz="4610" strike="noStrike" u="none">
                <a:solidFill>
                  <a:srgbClr val="17e3b2"/>
                </a:solidFill>
                <a:uFillTx/>
                <a:latin typeface="Almarai Bold"/>
                <a:ea typeface="Almarai Bold"/>
              </a:rPr>
              <a:t>Required Responsibility: </a:t>
            </a:r>
            <a:endParaRPr b="0" lang="en-US" sz="461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49" name="TextBox 12"/>
          <p:cNvSpPr/>
          <p:nvPr/>
        </p:nvSpPr>
        <p:spPr>
          <a:xfrm>
            <a:off x="1768320" y="3900960"/>
            <a:ext cx="8460000" cy="47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47"/>
              </a:lnSpc>
              <a:tabLst>
                <a:tab algn="l" pos="0"/>
              </a:tabLst>
            </a:pPr>
            <a:r>
              <a:rPr b="0" lang="en-US" sz="2720" strike="noStrike" u="none">
                <a:solidFill>
                  <a:srgbClr val="ffffff"/>
                </a:solidFill>
                <a:uFillTx/>
                <a:latin typeface="Almarai"/>
                <a:ea typeface="Almarai"/>
              </a:rPr>
              <a:t>General Ledger</a:t>
            </a:r>
            <a:endParaRPr b="0" lang="en-US" sz="272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0" name="TextBox 13"/>
          <p:cNvSpPr/>
          <p:nvPr/>
        </p:nvSpPr>
        <p:spPr>
          <a:xfrm>
            <a:off x="1674720" y="4479120"/>
            <a:ext cx="8748720" cy="8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355"/>
              </a:lnSpc>
              <a:tabLst>
                <a:tab algn="l" pos="0"/>
              </a:tabLst>
            </a:pPr>
            <a:r>
              <a:rPr b="1" lang="en-US" sz="4610" strike="noStrike" u="none">
                <a:solidFill>
                  <a:srgbClr val="17e3b2"/>
                </a:solidFill>
                <a:uFillTx/>
                <a:latin typeface="Almarai Bold"/>
                <a:ea typeface="Almarai Bold"/>
              </a:rPr>
              <a:t>Path</a:t>
            </a:r>
            <a:endParaRPr b="0" lang="en-US" sz="461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1" name="TextBox 14"/>
          <p:cNvSpPr/>
          <p:nvPr/>
        </p:nvSpPr>
        <p:spPr>
          <a:xfrm>
            <a:off x="1870560" y="5275800"/>
            <a:ext cx="8460000" cy="47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47"/>
              </a:lnSpc>
              <a:tabLst>
                <a:tab algn="l" pos="0"/>
              </a:tabLst>
            </a:pPr>
            <a:r>
              <a:rPr b="0" lang="en-US" sz="2720" strike="noStrike" u="none">
                <a:solidFill>
                  <a:srgbClr val="ffffff"/>
                </a:solidFill>
                <a:uFillTx/>
                <a:latin typeface="Almarai"/>
                <a:ea typeface="Almarai"/>
              </a:rPr>
              <a:t>setup&gt;Financials&gt;calendars&gt; Accounting</a:t>
            </a:r>
            <a:endParaRPr b="0" lang="en-US" sz="272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352" name="Group 15"/>
          <p:cNvGrpSpPr/>
          <p:nvPr/>
        </p:nvGrpSpPr>
        <p:grpSpPr>
          <a:xfrm>
            <a:off x="1675080" y="1337760"/>
            <a:ext cx="1224360" cy="1224360"/>
            <a:chOff x="1675080" y="1337760"/>
            <a:chExt cx="1224360" cy="1224360"/>
          </a:xfrm>
        </p:grpSpPr>
        <p:sp>
          <p:nvSpPr>
            <p:cNvPr id="353" name="Freeform 16"/>
            <p:cNvSpPr/>
            <p:nvPr/>
          </p:nvSpPr>
          <p:spPr>
            <a:xfrm rot="5400000">
              <a:off x="1675080" y="13374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pic>
        <p:nvPicPr>
          <p:cNvPr id="354" name="Picture 20" descr=""/>
          <p:cNvPicPr/>
          <p:nvPr/>
        </p:nvPicPr>
        <p:blipFill>
          <a:blip r:embed="rId5"/>
          <a:stretch/>
        </p:blipFill>
        <p:spPr>
          <a:xfrm>
            <a:off x="1188360" y="3693600"/>
            <a:ext cx="16521120" cy="6603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356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357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358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359" name="TextBox 8"/>
          <p:cNvSpPr/>
          <p:nvPr/>
        </p:nvSpPr>
        <p:spPr>
          <a:xfrm>
            <a:off x="2227680" y="943200"/>
            <a:ext cx="7296840" cy="76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035"/>
              </a:lnSpc>
              <a:tabLst>
                <a:tab algn="l" pos="0"/>
              </a:tabLst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Define Legal Entity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0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61" name="TextBox 11"/>
          <p:cNvSpPr/>
          <p:nvPr/>
        </p:nvSpPr>
        <p:spPr>
          <a:xfrm>
            <a:off x="1320840" y="2793240"/>
            <a:ext cx="7296840" cy="16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355"/>
              </a:lnSpc>
              <a:tabLst>
                <a:tab algn="l" pos="0"/>
              </a:tabLst>
            </a:pPr>
            <a:r>
              <a:rPr b="1" lang="en-US" sz="4610" strike="noStrike" u="none">
                <a:solidFill>
                  <a:srgbClr val="17e3b2"/>
                </a:solidFill>
                <a:uFillTx/>
                <a:latin typeface="Almarai Bold"/>
                <a:ea typeface="Almarai Bold"/>
              </a:rPr>
              <a:t>Required Responsibility: </a:t>
            </a:r>
            <a:endParaRPr b="0" lang="en-US" sz="461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2" name="TextBox 12"/>
          <p:cNvSpPr/>
          <p:nvPr/>
        </p:nvSpPr>
        <p:spPr>
          <a:xfrm>
            <a:off x="1501920" y="4014720"/>
            <a:ext cx="8460000" cy="47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47"/>
              </a:lnSpc>
              <a:tabLst>
                <a:tab algn="l" pos="0"/>
              </a:tabLst>
            </a:pPr>
            <a:r>
              <a:rPr b="0" lang="en-US" sz="2720" strike="noStrike" u="none">
                <a:solidFill>
                  <a:srgbClr val="ffffff"/>
                </a:solidFill>
                <a:uFillTx/>
                <a:latin typeface="Almarai"/>
                <a:ea typeface="Almarai"/>
              </a:rPr>
              <a:t>Global Ledger super user</a:t>
            </a:r>
            <a:endParaRPr b="0" lang="en-US" sz="272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3" name="TextBox 13"/>
          <p:cNvSpPr/>
          <p:nvPr/>
        </p:nvSpPr>
        <p:spPr>
          <a:xfrm>
            <a:off x="1501920" y="5169240"/>
            <a:ext cx="8748720" cy="8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355"/>
              </a:lnSpc>
              <a:tabLst>
                <a:tab algn="l" pos="0"/>
              </a:tabLst>
            </a:pPr>
            <a:r>
              <a:rPr b="1" lang="en-US" sz="4610" strike="noStrike" u="none">
                <a:solidFill>
                  <a:srgbClr val="17e3b2"/>
                </a:solidFill>
                <a:uFillTx/>
                <a:latin typeface="Almarai Bold"/>
                <a:ea typeface="Almarai Bold"/>
              </a:rPr>
              <a:t>Path</a:t>
            </a:r>
            <a:endParaRPr b="0" lang="en-US" sz="461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4" name="TextBox 14"/>
          <p:cNvSpPr/>
          <p:nvPr/>
        </p:nvSpPr>
        <p:spPr>
          <a:xfrm>
            <a:off x="1567800" y="6152040"/>
            <a:ext cx="8026560" cy="19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47"/>
              </a:lnSpc>
              <a:tabLst>
                <a:tab algn="l" pos="0"/>
              </a:tabLst>
            </a:pPr>
            <a:r>
              <a:rPr b="0" lang="en-US" sz="2720" strike="noStrike" u="none">
                <a:solidFill>
                  <a:srgbClr val="ffffff"/>
                </a:solidFill>
                <a:uFillTx/>
                <a:latin typeface="Almarai"/>
                <a:ea typeface="Almarai"/>
              </a:rPr>
              <a:t> </a:t>
            </a:r>
            <a:r>
              <a:rPr b="0" lang="en-US" sz="2720" strike="noStrike" u="none">
                <a:solidFill>
                  <a:srgbClr val="ffffff"/>
                </a:solidFill>
                <a:uFillTx/>
                <a:latin typeface="Almarai"/>
                <a:ea typeface="Almarai"/>
              </a:rPr>
              <a:t>Global Ledger super user&gt; setup &gt; financials&gt;accounting setup Manager&gt; accounting Setups</a:t>
            </a:r>
            <a:endParaRPr b="0" lang="en-US" sz="272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ts val="3747"/>
              </a:lnSpc>
              <a:tabLst>
                <a:tab algn="l" pos="0"/>
              </a:tabLst>
            </a:pPr>
            <a:r>
              <a:rPr b="0" lang="en-US" sz="2720" strike="noStrike" u="none">
                <a:solidFill>
                  <a:srgbClr val="ffffff"/>
                </a:solidFill>
                <a:uFillTx/>
                <a:latin typeface="Almarai"/>
                <a:ea typeface="Almarai"/>
              </a:rPr>
              <a:t>Provide the required information then save.</a:t>
            </a:r>
            <a:endParaRPr b="0" lang="en-US" sz="272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365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366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pic>
        <p:nvPicPr>
          <p:cNvPr id="367" name="Picture 17" descr=""/>
          <p:cNvPicPr/>
          <p:nvPr/>
        </p:nvPicPr>
        <p:blipFill>
          <a:blip r:embed="rId5"/>
          <a:stretch/>
        </p:blipFill>
        <p:spPr>
          <a:xfrm>
            <a:off x="8768520" y="2209320"/>
            <a:ext cx="9501840" cy="309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8" name="Picture 18" descr=""/>
          <p:cNvPicPr/>
          <p:nvPr/>
        </p:nvPicPr>
        <p:blipFill>
          <a:blip r:embed="rId6"/>
          <a:stretch/>
        </p:blipFill>
        <p:spPr>
          <a:xfrm>
            <a:off x="9144000" y="6368760"/>
            <a:ext cx="9049680" cy="3811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370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371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372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373" name="TextBox 8"/>
          <p:cNvSpPr/>
          <p:nvPr/>
        </p:nvSpPr>
        <p:spPr>
          <a:xfrm>
            <a:off x="2227680" y="943200"/>
            <a:ext cx="7296840" cy="153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035"/>
              </a:lnSpc>
              <a:tabLst>
                <a:tab algn="l" pos="0"/>
              </a:tabLst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Define Ledger Handling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4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75" name="TextBox 11"/>
          <p:cNvSpPr/>
          <p:nvPr/>
        </p:nvSpPr>
        <p:spPr>
          <a:xfrm>
            <a:off x="1768320" y="2800800"/>
            <a:ext cx="7296840" cy="16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355"/>
              </a:lnSpc>
              <a:tabLst>
                <a:tab algn="l" pos="0"/>
              </a:tabLst>
            </a:pPr>
            <a:r>
              <a:rPr b="1" lang="en-US" sz="4610" strike="noStrike" u="none">
                <a:solidFill>
                  <a:srgbClr val="17e3b2"/>
                </a:solidFill>
                <a:uFillTx/>
                <a:latin typeface="Almarai Bold"/>
                <a:ea typeface="Almarai Bold"/>
              </a:rPr>
              <a:t>Required Responsibility: </a:t>
            </a:r>
            <a:endParaRPr b="0" lang="en-US" sz="461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6" name="TextBox 12"/>
          <p:cNvSpPr/>
          <p:nvPr/>
        </p:nvSpPr>
        <p:spPr>
          <a:xfrm>
            <a:off x="1768320" y="3900960"/>
            <a:ext cx="8460000" cy="47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47"/>
              </a:lnSpc>
              <a:tabLst>
                <a:tab algn="l" pos="0"/>
              </a:tabLst>
            </a:pPr>
            <a:r>
              <a:rPr b="0" lang="en-US" sz="2720" strike="noStrike" u="none">
                <a:solidFill>
                  <a:srgbClr val="ffffff"/>
                </a:solidFill>
                <a:uFillTx/>
                <a:latin typeface="Almarai"/>
                <a:ea typeface="Almarai"/>
              </a:rPr>
              <a:t>Global Ledger super user</a:t>
            </a:r>
            <a:endParaRPr b="0" lang="en-US" sz="272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7" name="TextBox 13"/>
          <p:cNvSpPr/>
          <p:nvPr/>
        </p:nvSpPr>
        <p:spPr>
          <a:xfrm>
            <a:off x="1674720" y="4479120"/>
            <a:ext cx="8748720" cy="8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355"/>
              </a:lnSpc>
              <a:tabLst>
                <a:tab algn="l" pos="0"/>
              </a:tabLst>
            </a:pPr>
            <a:r>
              <a:rPr b="1" lang="en-US" sz="4610" strike="noStrike" u="none">
                <a:solidFill>
                  <a:srgbClr val="17e3b2"/>
                </a:solidFill>
                <a:uFillTx/>
                <a:latin typeface="Almarai Bold"/>
                <a:ea typeface="Almarai Bold"/>
              </a:rPr>
              <a:t>Path</a:t>
            </a:r>
            <a:endParaRPr b="0" lang="en-US" sz="461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8" name="TextBox 14"/>
          <p:cNvSpPr/>
          <p:nvPr/>
        </p:nvSpPr>
        <p:spPr>
          <a:xfrm>
            <a:off x="1753200" y="5741640"/>
            <a:ext cx="8026560" cy="38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47"/>
              </a:lnSpc>
              <a:tabLst>
                <a:tab algn="l" pos="0"/>
              </a:tabLst>
            </a:pPr>
            <a:r>
              <a:rPr b="0" lang="en-US" sz="2720" strike="noStrike" u="none">
                <a:solidFill>
                  <a:srgbClr val="ffffff"/>
                </a:solidFill>
                <a:uFillTx/>
                <a:latin typeface="Almarai"/>
                <a:ea typeface="Almarai"/>
              </a:rPr>
              <a:t>Global Ledger super user&gt; setup &gt; financials&gt;accounting setup Manager&gt; accounting Setups</a:t>
            </a:r>
            <a:endParaRPr b="0" lang="en-US" sz="272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ts val="3747"/>
              </a:lnSpc>
              <a:tabLst>
                <a:tab algn="l" pos="0"/>
              </a:tabLst>
            </a:pPr>
            <a:r>
              <a:rPr b="0" lang="en-US" sz="2720" strike="noStrike" u="none">
                <a:solidFill>
                  <a:srgbClr val="ffffff"/>
                </a:solidFill>
                <a:uFillTx/>
                <a:latin typeface="Almarai"/>
                <a:ea typeface="Almarai"/>
              </a:rPr>
              <a:t>Select accounting setup</a:t>
            </a:r>
            <a:endParaRPr b="0" lang="en-US" sz="272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ts val="3747"/>
              </a:lnSpc>
              <a:tabLst>
                <a:tab algn="l" pos="0"/>
              </a:tabLst>
            </a:pPr>
            <a:r>
              <a:rPr b="0" lang="en-US" sz="2720" strike="noStrike" u="none">
                <a:solidFill>
                  <a:srgbClr val="ffffff"/>
                </a:solidFill>
                <a:uFillTx/>
                <a:latin typeface="Almarai"/>
                <a:ea typeface="Almarai"/>
              </a:rPr>
              <a:t>Choose the defined legal entity (MSA).</a:t>
            </a:r>
            <a:endParaRPr b="0" lang="en-US" sz="272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ts val="3747"/>
              </a:lnSpc>
              <a:tabLst>
                <a:tab algn="l" pos="0"/>
              </a:tabLst>
            </a:pPr>
            <a:r>
              <a:rPr b="0" lang="en-US" sz="2720" strike="noStrike" u="none">
                <a:solidFill>
                  <a:srgbClr val="ffffff"/>
                </a:solidFill>
                <a:uFillTx/>
                <a:latin typeface="Almarai"/>
                <a:ea typeface="Almarai"/>
              </a:rPr>
              <a:t>Add the defined calendar , currency(MSA_USD) , reporting currency(MSA_BIT).</a:t>
            </a:r>
            <a:endParaRPr b="0" lang="en-US" sz="272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379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380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pic>
        <p:nvPicPr>
          <p:cNvPr id="381" name="Picture 5" descr=""/>
          <p:cNvPicPr/>
          <p:nvPr/>
        </p:nvPicPr>
        <p:blipFill>
          <a:blip r:embed="rId5"/>
          <a:stretch/>
        </p:blipFill>
        <p:spPr>
          <a:xfrm>
            <a:off x="10049400" y="-15480"/>
            <a:ext cx="8238240" cy="427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2" name="Picture 6" descr=""/>
          <p:cNvPicPr/>
          <p:nvPr/>
        </p:nvPicPr>
        <p:blipFill>
          <a:blip r:embed="rId6"/>
          <a:stretch/>
        </p:blipFill>
        <p:spPr>
          <a:xfrm>
            <a:off x="10043640" y="7382520"/>
            <a:ext cx="8244000" cy="280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3" name="Picture 8" descr=""/>
          <p:cNvPicPr/>
          <p:nvPr/>
        </p:nvPicPr>
        <p:blipFill>
          <a:blip r:embed="rId7"/>
          <a:stretch/>
        </p:blipFill>
        <p:spPr>
          <a:xfrm>
            <a:off x="10064520" y="4256280"/>
            <a:ext cx="8244000" cy="3125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385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386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387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388" name="TextBox 8"/>
          <p:cNvSpPr/>
          <p:nvPr/>
        </p:nvSpPr>
        <p:spPr>
          <a:xfrm>
            <a:off x="2227680" y="943200"/>
            <a:ext cx="13216680" cy="153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035"/>
              </a:lnSpc>
              <a:tabLst>
                <a:tab algn="l" pos="0"/>
              </a:tabLst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Accounting Flex fields Segments and values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89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390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391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pic>
        <p:nvPicPr>
          <p:cNvPr id="392" name="Picture 17" descr=""/>
          <p:cNvPicPr/>
          <p:nvPr/>
        </p:nvPicPr>
        <p:blipFill>
          <a:blip r:embed="rId5"/>
          <a:stretch/>
        </p:blipFill>
        <p:spPr>
          <a:xfrm>
            <a:off x="9741600" y="2066760"/>
            <a:ext cx="7986600" cy="354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3" name="Picture 18" descr=""/>
          <p:cNvPicPr/>
          <p:nvPr/>
        </p:nvPicPr>
        <p:blipFill>
          <a:blip r:embed="rId6"/>
          <a:stretch/>
        </p:blipFill>
        <p:spPr>
          <a:xfrm>
            <a:off x="309600" y="2066760"/>
            <a:ext cx="8086320" cy="354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4" name="Picture 19" descr=""/>
          <p:cNvPicPr/>
          <p:nvPr/>
        </p:nvPicPr>
        <p:blipFill>
          <a:blip r:embed="rId7"/>
          <a:stretch/>
        </p:blipFill>
        <p:spPr>
          <a:xfrm>
            <a:off x="325080" y="6230160"/>
            <a:ext cx="8086320" cy="2903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5" name="Picture 20" descr=""/>
          <p:cNvPicPr/>
          <p:nvPr/>
        </p:nvPicPr>
        <p:blipFill>
          <a:blip r:embed="rId8"/>
          <a:stretch/>
        </p:blipFill>
        <p:spPr>
          <a:xfrm>
            <a:off x="9741600" y="6176880"/>
            <a:ext cx="7925400" cy="295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6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397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398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399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400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401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402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pic>
        <p:nvPicPr>
          <p:cNvPr id="403" name="Picture 6" descr=""/>
          <p:cNvPicPr/>
          <p:nvPr/>
        </p:nvPicPr>
        <p:blipFill>
          <a:blip r:embed="rId5"/>
          <a:stretch/>
        </p:blipFill>
        <p:spPr>
          <a:xfrm>
            <a:off x="381960" y="3772080"/>
            <a:ext cx="9904320" cy="579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4" name="Picture 10" descr=""/>
          <p:cNvPicPr/>
          <p:nvPr/>
        </p:nvPicPr>
        <p:blipFill>
          <a:blip r:embed="rId6"/>
          <a:stretch/>
        </p:blipFill>
        <p:spPr>
          <a:xfrm>
            <a:off x="10648800" y="2920680"/>
            <a:ext cx="7486200" cy="727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5" name="TextBox 8"/>
          <p:cNvSpPr/>
          <p:nvPr/>
        </p:nvSpPr>
        <p:spPr>
          <a:xfrm>
            <a:off x="2227680" y="943200"/>
            <a:ext cx="13216680" cy="76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035"/>
              </a:lnSpc>
              <a:tabLst>
                <a:tab algn="l" pos="0"/>
              </a:tabLst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  <a:ea typeface="Almarai Bold"/>
              </a:rPr>
              <a:t>Accounting Flex fields values-2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407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408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409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410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411" name="Picture 6" descr=""/>
          <p:cNvPicPr/>
          <p:nvPr/>
        </p:nvPicPr>
        <p:blipFill>
          <a:blip r:embed="rId4"/>
          <a:srcRect l="5492" t="5210" r="40344" b="0"/>
          <a:stretch/>
        </p:blipFill>
        <p:spPr>
          <a:xfrm>
            <a:off x="3352680" y="1866960"/>
            <a:ext cx="7047360" cy="693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2" name="TextBox 8"/>
          <p:cNvSpPr/>
          <p:nvPr/>
        </p:nvSpPr>
        <p:spPr>
          <a:xfrm>
            <a:off x="2189520" y="706680"/>
            <a:ext cx="13216680" cy="104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</a:rPr>
              <a:t>General Ledger Setup Verification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413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414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5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416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417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418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419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20" name="TextBox 8"/>
          <p:cNvSpPr/>
          <p:nvPr/>
        </p:nvSpPr>
        <p:spPr>
          <a:xfrm>
            <a:off x="2535480" y="1025640"/>
            <a:ext cx="13216680" cy="180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</a:rPr>
              <a:t>LEDGER RESPONSIBILITY DEFINITION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21" name="Picture 11" descr=""/>
          <p:cNvPicPr/>
          <p:nvPr/>
        </p:nvPicPr>
        <p:blipFill>
          <a:blip r:embed="rId4"/>
          <a:stretch/>
        </p:blipFill>
        <p:spPr>
          <a:xfrm>
            <a:off x="3124080" y="2842920"/>
            <a:ext cx="11967480" cy="4600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2" name="Picture 13" descr=""/>
          <p:cNvPicPr/>
          <p:nvPr/>
        </p:nvPicPr>
        <p:blipFill>
          <a:blip r:embed="rId5"/>
          <a:stretch/>
        </p:blipFill>
        <p:spPr>
          <a:xfrm>
            <a:off x="3145680" y="8012880"/>
            <a:ext cx="11967480" cy="7876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23" name="Group 15"/>
          <p:cNvGrpSpPr/>
          <p:nvPr/>
        </p:nvGrpSpPr>
        <p:grpSpPr>
          <a:xfrm>
            <a:off x="745200" y="1025640"/>
            <a:ext cx="1224360" cy="1224360"/>
            <a:chOff x="745200" y="1025640"/>
            <a:chExt cx="1224360" cy="1224360"/>
          </a:xfrm>
        </p:grpSpPr>
        <p:sp>
          <p:nvSpPr>
            <p:cNvPr id="424" name="Freeform 16"/>
            <p:cNvSpPr/>
            <p:nvPr/>
          </p:nvSpPr>
          <p:spPr>
            <a:xfrm rot="5400000">
              <a:off x="744840" y="102528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426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427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428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429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430" name="Picture 6" descr=""/>
          <p:cNvPicPr/>
          <p:nvPr/>
        </p:nvPicPr>
        <p:blipFill>
          <a:blip r:embed="rId4"/>
          <a:stretch/>
        </p:blipFill>
        <p:spPr>
          <a:xfrm>
            <a:off x="1986480" y="2781360"/>
            <a:ext cx="14065920" cy="613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1" name="TextBox 8"/>
          <p:cNvSpPr/>
          <p:nvPr/>
        </p:nvSpPr>
        <p:spPr>
          <a:xfrm>
            <a:off x="2535480" y="1025640"/>
            <a:ext cx="13216680" cy="104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</a:rPr>
              <a:t>HR Responsibility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432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433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4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435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436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437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438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439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440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pic>
        <p:nvPicPr>
          <p:cNvPr id="441" name="Picture 6" descr=""/>
          <p:cNvPicPr/>
          <p:nvPr/>
        </p:nvPicPr>
        <p:blipFill>
          <a:blip r:embed="rId5"/>
          <a:stretch/>
        </p:blipFill>
        <p:spPr>
          <a:xfrm>
            <a:off x="3352680" y="2868480"/>
            <a:ext cx="12039120" cy="497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2" name="Picture 8" descr=""/>
          <p:cNvPicPr/>
          <p:nvPr/>
        </p:nvPicPr>
        <p:blipFill>
          <a:blip r:embed="rId6"/>
          <a:stretch/>
        </p:blipFill>
        <p:spPr>
          <a:xfrm>
            <a:off x="3567240" y="8228880"/>
            <a:ext cx="11824920" cy="80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3" name="TextBox 11"/>
          <p:cNvSpPr/>
          <p:nvPr/>
        </p:nvSpPr>
        <p:spPr>
          <a:xfrm>
            <a:off x="2895480" y="731520"/>
            <a:ext cx="140929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</a:rPr>
              <a:t>INVENTORY RESPONSIBILTY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4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445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446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447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448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449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450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pic>
        <p:nvPicPr>
          <p:cNvPr id="451" name="Picture 6" descr=""/>
          <p:cNvPicPr/>
          <p:nvPr/>
        </p:nvPicPr>
        <p:blipFill>
          <a:blip r:embed="rId5"/>
          <a:stretch/>
        </p:blipFill>
        <p:spPr>
          <a:xfrm>
            <a:off x="1745640" y="2476800"/>
            <a:ext cx="8132400" cy="510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2" name="Picture 8" descr=""/>
          <p:cNvPicPr/>
          <p:nvPr/>
        </p:nvPicPr>
        <p:blipFill>
          <a:blip r:embed="rId6"/>
          <a:stretch/>
        </p:blipFill>
        <p:spPr>
          <a:xfrm>
            <a:off x="10525680" y="2476800"/>
            <a:ext cx="6633720" cy="1842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3" name="Picture 11" descr=""/>
          <p:cNvPicPr/>
          <p:nvPr/>
        </p:nvPicPr>
        <p:blipFill>
          <a:blip r:embed="rId7"/>
          <a:stretch/>
        </p:blipFill>
        <p:spPr>
          <a:xfrm>
            <a:off x="11025360" y="5143680"/>
            <a:ext cx="6134040" cy="264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4" name="TextBox 13"/>
          <p:cNvSpPr/>
          <p:nvPr/>
        </p:nvSpPr>
        <p:spPr>
          <a:xfrm>
            <a:off x="2097360" y="805320"/>
            <a:ext cx="140929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</a:rPr>
              <a:t>Creating an operating unit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456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457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458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459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460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461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pic>
        <p:nvPicPr>
          <p:cNvPr id="462" name="Picture 6" descr=""/>
          <p:cNvPicPr/>
          <p:nvPr/>
        </p:nvPicPr>
        <p:blipFill>
          <a:blip r:embed="rId5"/>
          <a:stretch/>
        </p:blipFill>
        <p:spPr>
          <a:xfrm>
            <a:off x="2971800" y="1794960"/>
            <a:ext cx="11734560" cy="4708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3" name="Picture 8" descr=""/>
          <p:cNvPicPr/>
          <p:nvPr/>
        </p:nvPicPr>
        <p:blipFill>
          <a:blip r:embed="rId6"/>
          <a:stretch/>
        </p:blipFill>
        <p:spPr>
          <a:xfrm>
            <a:off x="2626200" y="6896160"/>
            <a:ext cx="12526560" cy="228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4" name="TextBox 11"/>
          <p:cNvSpPr/>
          <p:nvPr/>
        </p:nvSpPr>
        <p:spPr>
          <a:xfrm>
            <a:off x="2441520" y="258480"/>
            <a:ext cx="14092920" cy="162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</a:rPr>
              <a:t>Create Operating Unit 2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5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466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467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468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469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470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471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pic>
        <p:nvPicPr>
          <p:cNvPr id="472" name="Picture 6" descr=""/>
          <p:cNvPicPr/>
          <p:nvPr/>
        </p:nvPicPr>
        <p:blipFill>
          <a:blip r:embed="rId5"/>
          <a:stretch/>
        </p:blipFill>
        <p:spPr>
          <a:xfrm>
            <a:off x="1986480" y="1336320"/>
            <a:ext cx="6612480" cy="438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3" name="Picture 8" descr=""/>
          <p:cNvPicPr/>
          <p:nvPr/>
        </p:nvPicPr>
        <p:blipFill>
          <a:blip r:embed="rId6"/>
          <a:stretch/>
        </p:blipFill>
        <p:spPr>
          <a:xfrm>
            <a:off x="9895680" y="1221840"/>
            <a:ext cx="6642000" cy="438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4" name="Picture 11" descr=""/>
          <p:cNvPicPr/>
          <p:nvPr/>
        </p:nvPicPr>
        <p:blipFill>
          <a:blip r:embed="rId7"/>
          <a:stretch/>
        </p:blipFill>
        <p:spPr>
          <a:xfrm>
            <a:off x="1986480" y="5897880"/>
            <a:ext cx="6583320" cy="438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5" name="Picture 13" descr=""/>
          <p:cNvPicPr/>
          <p:nvPr/>
        </p:nvPicPr>
        <p:blipFill>
          <a:blip r:embed="rId8"/>
          <a:stretch/>
        </p:blipFill>
        <p:spPr>
          <a:xfrm>
            <a:off x="9892800" y="5897880"/>
            <a:ext cx="664200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6" name="TextBox 17"/>
          <p:cNvSpPr/>
          <p:nvPr/>
        </p:nvSpPr>
        <p:spPr>
          <a:xfrm>
            <a:off x="1986480" y="506880"/>
            <a:ext cx="140929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</a:rPr>
              <a:t>Users Creation 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7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478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479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480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481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482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483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484" name="TextBox 6"/>
          <p:cNvSpPr/>
          <p:nvPr/>
        </p:nvSpPr>
        <p:spPr>
          <a:xfrm>
            <a:off x="2441520" y="1024200"/>
            <a:ext cx="140929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</a:rPr>
              <a:t>User Creation 2 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85" name="Picture 8" descr=""/>
          <p:cNvPicPr/>
          <p:nvPr/>
        </p:nvPicPr>
        <p:blipFill>
          <a:blip r:embed="rId5"/>
          <a:stretch/>
        </p:blipFill>
        <p:spPr>
          <a:xfrm>
            <a:off x="2209680" y="1948680"/>
            <a:ext cx="12267720" cy="3513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6" name="Picture 11" descr=""/>
          <p:cNvPicPr/>
          <p:nvPr/>
        </p:nvPicPr>
        <p:blipFill>
          <a:blip r:embed="rId6"/>
          <a:stretch/>
        </p:blipFill>
        <p:spPr>
          <a:xfrm>
            <a:off x="2209680" y="5829480"/>
            <a:ext cx="12267720" cy="4388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488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489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490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491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ff0000"/>
                </a:solidFill>
                <a:uFillTx/>
                <a:latin typeface="Arial"/>
              </a:rPr>
              <a:t>The request “Maintain person security list”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492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493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pic>
        <p:nvPicPr>
          <p:cNvPr id="494" name="Picture 6" descr=""/>
          <p:cNvPicPr/>
          <p:nvPr/>
        </p:nvPicPr>
        <p:blipFill>
          <a:blip r:embed="rId5"/>
          <a:stretch/>
        </p:blipFill>
        <p:spPr>
          <a:xfrm>
            <a:off x="2066760" y="1612080"/>
            <a:ext cx="8119080" cy="543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5" name="Picture 8" descr=""/>
          <p:cNvPicPr/>
          <p:nvPr/>
        </p:nvPicPr>
        <p:blipFill>
          <a:blip r:embed="rId6"/>
          <a:stretch/>
        </p:blipFill>
        <p:spPr>
          <a:xfrm>
            <a:off x="10400400" y="1675800"/>
            <a:ext cx="6905160" cy="241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6" name="TextBox 11"/>
          <p:cNvSpPr/>
          <p:nvPr/>
        </p:nvSpPr>
        <p:spPr>
          <a:xfrm>
            <a:off x="2441520" y="688680"/>
            <a:ext cx="14092920" cy="177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</a:rPr>
              <a:t>Setup security profile for responsibilities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7" name="TextBox 13"/>
          <p:cNvSpPr/>
          <p:nvPr/>
        </p:nvSpPr>
        <p:spPr>
          <a:xfrm>
            <a:off x="11819880" y="8027280"/>
            <a:ext cx="548604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Arial"/>
              </a:rPr>
              <a:t>The request “Maintain person security list”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98" name="Picture 16" descr="Important Notice Banner Vector Design, Important Notice, Important Messege  Sign, Important Announcement PNG and Vector with Transparent Background for  Free Download"/>
          <p:cNvPicPr/>
          <p:nvPr/>
        </p:nvPicPr>
        <p:blipFill>
          <a:blip r:embed="rId7"/>
          <a:stretch/>
        </p:blipFill>
        <p:spPr>
          <a:xfrm rot="20364600">
            <a:off x="8750160" y="7067880"/>
            <a:ext cx="3085920" cy="3085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TextBox 10"/>
          <p:cNvSpPr/>
          <p:nvPr/>
        </p:nvSpPr>
        <p:spPr>
          <a:xfrm>
            <a:off x="7935120" y="3093120"/>
            <a:ext cx="3597120" cy="133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ts val="3359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00" name="TextBox 16"/>
          <p:cNvSpPr/>
          <p:nvPr/>
        </p:nvSpPr>
        <p:spPr>
          <a:xfrm>
            <a:off x="10399320" y="2354760"/>
            <a:ext cx="3597120" cy="133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ts val="3359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01" name="Freeform 19"/>
          <p:cNvSpPr/>
          <p:nvPr/>
        </p:nvSpPr>
        <p:spPr>
          <a:xfrm>
            <a:off x="6477120" y="2857680"/>
            <a:ext cx="4984560" cy="4101120"/>
          </a:xfrm>
          <a:custGeom>
            <a:avLst/>
            <a:gdLst>
              <a:gd name="textAreaLeft" fmla="*/ 0 w 4984560"/>
              <a:gd name="textAreaRight" fmla="*/ 4984920 w 4984560"/>
              <a:gd name="textAreaTop" fmla="*/ 0 h 4101120"/>
              <a:gd name="textAreaBottom" fmla="*/ 4101480 h 4101120"/>
            </a:gdLst>
            <a:ahLst/>
            <a:rect l="textAreaLeft" t="textAreaTop" r="textAreaRight" b="textAreaBottom"/>
            <a:pathLst>
              <a:path w="6350000" h="6349987">
                <a:moveTo>
                  <a:pt x="3175000" y="6349987"/>
                </a:moveTo>
                <a:cubicBezTo>
                  <a:pt x="1424279" y="6349987"/>
                  <a:pt x="0" y="4925733"/>
                  <a:pt x="0" y="3175038"/>
                </a:cubicBezTo>
                <a:cubicBezTo>
                  <a:pt x="0" y="1424317"/>
                  <a:pt x="1424292" y="0"/>
                  <a:pt x="3175000" y="0"/>
                </a:cubicBezTo>
                <a:cubicBezTo>
                  <a:pt x="4925733" y="0"/>
                  <a:pt x="6350000" y="1424330"/>
                  <a:pt x="6350000" y="3175038"/>
                </a:cubicBezTo>
                <a:cubicBezTo>
                  <a:pt x="6350000" y="4925720"/>
                  <a:pt x="4925733" y="6349987"/>
                  <a:pt x="3175000" y="6349987"/>
                </a:cubicBezTo>
                <a:close/>
                <a:moveTo>
                  <a:pt x="3175000" y="115760"/>
                </a:moveTo>
                <a:cubicBezTo>
                  <a:pt x="1488135" y="115760"/>
                  <a:pt x="115760" y="1488148"/>
                  <a:pt x="115760" y="3175038"/>
                </a:cubicBezTo>
                <a:cubicBezTo>
                  <a:pt x="115760" y="4861915"/>
                  <a:pt x="1488135" y="6234265"/>
                  <a:pt x="3175000" y="6234265"/>
                </a:cubicBezTo>
                <a:cubicBezTo>
                  <a:pt x="4861852" y="6234265"/>
                  <a:pt x="6234265" y="4861890"/>
                  <a:pt x="6234265" y="3175038"/>
                </a:cubicBezTo>
                <a:cubicBezTo>
                  <a:pt x="6234265" y="1488148"/>
                  <a:pt x="4861852" y="115760"/>
                  <a:pt x="3175000" y="115760"/>
                </a:cubicBezTo>
                <a:close/>
              </a:path>
            </a:pathLst>
          </a:custGeom>
          <a:solidFill>
            <a:srgbClr val="17e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494949"/>
                </a:solidFill>
                <a:uFillTx/>
                <a:latin typeface="Menlo"/>
              </a:rPr>
              <a:t>c. Inventory Setup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502" name="Group 20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503" name="Freeform 21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504" name="Group 22"/>
          <p:cNvGrpSpPr/>
          <p:nvPr/>
        </p:nvGrpSpPr>
        <p:grpSpPr>
          <a:xfrm>
            <a:off x="15561360" y="-3076560"/>
            <a:ext cx="7200720" cy="10286640"/>
            <a:chOff x="15561360" y="-3076560"/>
            <a:chExt cx="7200720" cy="10286640"/>
          </a:xfrm>
        </p:grpSpPr>
        <p:sp>
          <p:nvSpPr>
            <p:cNvPr id="505" name="Freeform 23"/>
            <p:cNvSpPr/>
            <p:nvPr/>
          </p:nvSpPr>
          <p:spPr>
            <a:xfrm>
              <a:off x="15561360" y="-3076560"/>
              <a:ext cx="7200720" cy="10286640"/>
            </a:xfrm>
            <a:custGeom>
              <a:avLst/>
              <a:gdLst>
                <a:gd name="textAreaLeft" fmla="*/ 0 w 7200720"/>
                <a:gd name="textAreaRight" fmla="*/ 7201080 w 720072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>
                <a:alphaModFix amt="1800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506" name="Group 24"/>
          <p:cNvGrpSpPr/>
          <p:nvPr/>
        </p:nvGrpSpPr>
        <p:grpSpPr>
          <a:xfrm>
            <a:off x="-4474080" y="-509400"/>
            <a:ext cx="7200720" cy="10286640"/>
            <a:chOff x="-4474080" y="-509400"/>
            <a:chExt cx="7200720" cy="10286640"/>
          </a:xfrm>
        </p:grpSpPr>
        <p:sp>
          <p:nvSpPr>
            <p:cNvPr id="507" name="Freeform 25"/>
            <p:cNvSpPr/>
            <p:nvPr/>
          </p:nvSpPr>
          <p:spPr>
            <a:xfrm>
              <a:off x="-4474080" y="-509400"/>
              <a:ext cx="7200720" cy="10286640"/>
            </a:xfrm>
            <a:custGeom>
              <a:avLst/>
              <a:gdLst>
                <a:gd name="textAreaLeft" fmla="*/ 0 w 7200720"/>
                <a:gd name="textAreaRight" fmla="*/ 7201080 w 720072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3">
                <a:alphaModFix amt="1800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508" name="Group 26"/>
          <p:cNvGrpSpPr/>
          <p:nvPr/>
        </p:nvGrpSpPr>
        <p:grpSpPr>
          <a:xfrm>
            <a:off x="-4722480" y="267840"/>
            <a:ext cx="5753880" cy="8219880"/>
            <a:chOff x="-4722480" y="267840"/>
            <a:chExt cx="5753880" cy="8219880"/>
          </a:xfrm>
        </p:grpSpPr>
        <p:sp>
          <p:nvSpPr>
            <p:cNvPr id="509" name="Freeform 27"/>
            <p:cNvSpPr/>
            <p:nvPr/>
          </p:nvSpPr>
          <p:spPr>
            <a:xfrm rot="10800000">
              <a:off x="-4722120" y="26784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510" name="Rectangle 3"/>
          <p:cNvSpPr/>
          <p:nvPr/>
        </p:nvSpPr>
        <p:spPr>
          <a:xfrm>
            <a:off x="8549280" y="258480"/>
            <a:ext cx="14932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494949"/>
                </a:solidFill>
                <a:uFillTx/>
                <a:latin typeface="Menlo"/>
              </a:rPr>
              <a:t>Purchasing Module Setup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1" name="Rectangle 1"/>
          <p:cNvSpPr/>
          <p:nvPr/>
        </p:nvSpPr>
        <p:spPr>
          <a:xfrm>
            <a:off x="8501400" y="106200"/>
            <a:ext cx="12844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494949"/>
                </a:solidFill>
                <a:uFillTx/>
                <a:latin typeface="Menlo"/>
              </a:rPr>
              <a:t>System Configuration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12" name="Picture 4" descr="How to Set Up and Manage WooCommerce Inventory: A Complete Guide - Jovvie  Point of Sale &amp; In-person Payments"/>
          <p:cNvPicPr/>
          <p:nvPr/>
        </p:nvPicPr>
        <p:blipFill>
          <a:blip r:embed="rId5"/>
          <a:srcRect l="0" t="11771" r="0" b="0"/>
          <a:stretch/>
        </p:blipFill>
        <p:spPr>
          <a:xfrm>
            <a:off x="5734800" y="6958800"/>
            <a:ext cx="6066000" cy="352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514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515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516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517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518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519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pic>
        <p:nvPicPr>
          <p:cNvPr id="520" name="Picture 6" descr=""/>
          <p:cNvPicPr/>
          <p:nvPr/>
        </p:nvPicPr>
        <p:blipFill>
          <a:blip r:embed="rId5"/>
          <a:stretch/>
        </p:blipFill>
        <p:spPr>
          <a:xfrm>
            <a:off x="942120" y="1948680"/>
            <a:ext cx="6400080" cy="3594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1" name="Picture 8" descr=""/>
          <p:cNvPicPr/>
          <p:nvPr/>
        </p:nvPicPr>
        <p:blipFill>
          <a:blip r:embed="rId6"/>
          <a:stretch/>
        </p:blipFill>
        <p:spPr>
          <a:xfrm>
            <a:off x="8195400" y="2082240"/>
            <a:ext cx="7139160" cy="373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2" name="Picture 11" descr=""/>
          <p:cNvPicPr/>
          <p:nvPr/>
        </p:nvPicPr>
        <p:blipFill>
          <a:blip r:embed="rId7"/>
          <a:stretch/>
        </p:blipFill>
        <p:spPr>
          <a:xfrm>
            <a:off x="1018800" y="5790600"/>
            <a:ext cx="4300920" cy="3594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3" name="Picture 13" descr=""/>
          <p:cNvPicPr/>
          <p:nvPr/>
        </p:nvPicPr>
        <p:blipFill>
          <a:blip r:embed="rId8"/>
          <a:stretch/>
        </p:blipFill>
        <p:spPr>
          <a:xfrm>
            <a:off x="7525440" y="6176880"/>
            <a:ext cx="7409520" cy="320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4" name="TextBox 17"/>
          <p:cNvSpPr/>
          <p:nvPr/>
        </p:nvSpPr>
        <p:spPr>
          <a:xfrm>
            <a:off x="2210040" y="1005840"/>
            <a:ext cx="140929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</a:rPr>
              <a:t>Define Workday calendar 1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5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526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527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528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529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530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531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pic>
        <p:nvPicPr>
          <p:cNvPr id="532" name="Picture 6" descr=""/>
          <p:cNvPicPr/>
          <p:nvPr/>
        </p:nvPicPr>
        <p:blipFill>
          <a:blip r:embed="rId5"/>
          <a:stretch/>
        </p:blipFill>
        <p:spPr>
          <a:xfrm>
            <a:off x="342360" y="2629080"/>
            <a:ext cx="11148120" cy="3372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3" name="Picture 8" descr=""/>
          <p:cNvPicPr/>
          <p:nvPr/>
        </p:nvPicPr>
        <p:blipFill>
          <a:blip r:embed="rId6"/>
          <a:stretch/>
        </p:blipFill>
        <p:spPr>
          <a:xfrm>
            <a:off x="11539440" y="2676600"/>
            <a:ext cx="6905160" cy="117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4" name="Picture 11" descr=""/>
          <p:cNvPicPr/>
          <p:nvPr/>
        </p:nvPicPr>
        <p:blipFill>
          <a:blip r:embed="rId7"/>
          <a:stretch/>
        </p:blipFill>
        <p:spPr>
          <a:xfrm>
            <a:off x="999360" y="7391520"/>
            <a:ext cx="9973080" cy="148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5" name="TextBox 13"/>
          <p:cNvSpPr/>
          <p:nvPr/>
        </p:nvSpPr>
        <p:spPr>
          <a:xfrm>
            <a:off x="2433960" y="870840"/>
            <a:ext cx="140929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</a:rPr>
              <a:t>Define Workday Calendar 2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6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537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538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539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540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541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542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pic>
        <p:nvPicPr>
          <p:cNvPr id="543" name="Picture 6" descr=""/>
          <p:cNvPicPr/>
          <p:nvPr/>
        </p:nvPicPr>
        <p:blipFill>
          <a:blip r:embed="rId5"/>
          <a:stretch/>
        </p:blipFill>
        <p:spPr>
          <a:xfrm>
            <a:off x="1963440" y="1638360"/>
            <a:ext cx="7037280" cy="3504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4" name="Picture 8" descr=""/>
          <p:cNvPicPr/>
          <p:nvPr/>
        </p:nvPicPr>
        <p:blipFill>
          <a:blip r:embed="rId6"/>
          <a:stretch/>
        </p:blipFill>
        <p:spPr>
          <a:xfrm>
            <a:off x="1791360" y="5551560"/>
            <a:ext cx="7047720" cy="438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5" name="Picture 11" descr=""/>
          <p:cNvPicPr/>
          <p:nvPr/>
        </p:nvPicPr>
        <p:blipFill>
          <a:blip r:embed="rId7"/>
          <a:stretch/>
        </p:blipFill>
        <p:spPr>
          <a:xfrm>
            <a:off x="10400400" y="1638360"/>
            <a:ext cx="6524640" cy="562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6" name="Picture 13" descr=""/>
          <p:cNvPicPr/>
          <p:nvPr/>
        </p:nvPicPr>
        <p:blipFill>
          <a:blip r:embed="rId8"/>
          <a:stretch/>
        </p:blipFill>
        <p:spPr>
          <a:xfrm>
            <a:off x="10356120" y="8420040"/>
            <a:ext cx="6333120" cy="10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7" name="TextBox 17"/>
          <p:cNvSpPr/>
          <p:nvPr/>
        </p:nvSpPr>
        <p:spPr>
          <a:xfrm>
            <a:off x="2441520" y="695880"/>
            <a:ext cx="140929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</a:rPr>
              <a:t>MASTER ITEM Organization Definition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8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549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550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551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552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553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554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pic>
        <p:nvPicPr>
          <p:cNvPr id="555" name="Picture 6" descr=""/>
          <p:cNvPicPr/>
          <p:nvPr/>
        </p:nvPicPr>
        <p:blipFill>
          <a:blip r:embed="rId5"/>
          <a:stretch/>
        </p:blipFill>
        <p:spPr>
          <a:xfrm>
            <a:off x="3402720" y="1973160"/>
            <a:ext cx="10737720" cy="548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6" name="Picture 8" descr=""/>
          <p:cNvPicPr/>
          <p:nvPr/>
        </p:nvPicPr>
        <p:blipFill>
          <a:blip r:embed="rId6"/>
          <a:stretch/>
        </p:blipFill>
        <p:spPr>
          <a:xfrm>
            <a:off x="4593960" y="8619840"/>
            <a:ext cx="9099720" cy="53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7" name="TextBox 11"/>
          <p:cNvSpPr/>
          <p:nvPr/>
        </p:nvSpPr>
        <p:spPr>
          <a:xfrm>
            <a:off x="2666880" y="723960"/>
            <a:ext cx="140929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</a:rPr>
              <a:t>MSA Inventory Organization Definition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8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559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560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561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562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563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564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565" name="TextBox 6"/>
          <p:cNvSpPr/>
          <p:nvPr/>
        </p:nvSpPr>
        <p:spPr>
          <a:xfrm>
            <a:off x="2426400" y="1074600"/>
            <a:ext cx="14092920" cy="177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</a:rPr>
              <a:t>Unit of Measure Classes and Conversions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566" name="Picture 8" descr=""/>
          <p:cNvPicPr/>
          <p:nvPr/>
        </p:nvPicPr>
        <p:blipFill>
          <a:blip r:embed="rId5"/>
          <a:stretch/>
        </p:blipFill>
        <p:spPr>
          <a:xfrm>
            <a:off x="709920" y="2489040"/>
            <a:ext cx="5471280" cy="365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7" name="Picture 11" descr=""/>
          <p:cNvPicPr/>
          <p:nvPr/>
        </p:nvPicPr>
        <p:blipFill>
          <a:blip r:embed="rId6"/>
          <a:stretch/>
        </p:blipFill>
        <p:spPr>
          <a:xfrm>
            <a:off x="6181920" y="3597120"/>
            <a:ext cx="5013000" cy="144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8" name="Picture 13" descr=""/>
          <p:cNvPicPr/>
          <p:nvPr/>
        </p:nvPicPr>
        <p:blipFill>
          <a:blip r:embed="rId7"/>
          <a:stretch/>
        </p:blipFill>
        <p:spPr>
          <a:xfrm>
            <a:off x="11382480" y="2046240"/>
            <a:ext cx="6905160" cy="4542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9" name="Picture 17" descr=""/>
          <p:cNvPicPr/>
          <p:nvPr/>
        </p:nvPicPr>
        <p:blipFill>
          <a:blip r:embed="rId8"/>
          <a:stretch/>
        </p:blipFill>
        <p:spPr>
          <a:xfrm>
            <a:off x="777240" y="7955640"/>
            <a:ext cx="10269720" cy="108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0" name="Picture 19" descr=""/>
          <p:cNvPicPr/>
          <p:nvPr/>
        </p:nvPicPr>
        <p:blipFill>
          <a:blip r:embed="rId9"/>
          <a:stretch/>
        </p:blipFill>
        <p:spPr>
          <a:xfrm>
            <a:off x="11918160" y="7950600"/>
            <a:ext cx="5032440" cy="928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1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572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573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574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575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576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577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578" name="TextBox 6"/>
          <p:cNvSpPr/>
          <p:nvPr/>
        </p:nvSpPr>
        <p:spPr>
          <a:xfrm>
            <a:off x="2441520" y="813240"/>
            <a:ext cx="140929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</a:rPr>
              <a:t>Item Type Definition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579" name="Picture 8" descr=""/>
          <p:cNvPicPr/>
          <p:nvPr/>
        </p:nvPicPr>
        <p:blipFill>
          <a:blip r:embed="rId5"/>
          <a:stretch/>
        </p:blipFill>
        <p:spPr>
          <a:xfrm>
            <a:off x="3132720" y="2476800"/>
            <a:ext cx="9897120" cy="585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0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581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582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583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584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585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586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587" name="TextBox 6"/>
          <p:cNvSpPr/>
          <p:nvPr/>
        </p:nvSpPr>
        <p:spPr>
          <a:xfrm>
            <a:off x="2666880" y="820800"/>
            <a:ext cx="140929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</a:rPr>
              <a:t>Item Templates 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588" name="Picture 8" descr=""/>
          <p:cNvPicPr/>
          <p:nvPr/>
        </p:nvPicPr>
        <p:blipFill>
          <a:blip r:embed="rId5"/>
          <a:stretch/>
        </p:blipFill>
        <p:spPr>
          <a:xfrm>
            <a:off x="1768320" y="4017240"/>
            <a:ext cx="15197400" cy="2252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9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590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591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592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593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594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595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596" name="TextBox 6"/>
          <p:cNvSpPr/>
          <p:nvPr/>
        </p:nvSpPr>
        <p:spPr>
          <a:xfrm>
            <a:off x="2895480" y="861480"/>
            <a:ext cx="140929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</a:rPr>
              <a:t>Item Definition 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597" name="Picture 8" descr=""/>
          <p:cNvPicPr/>
          <p:nvPr/>
        </p:nvPicPr>
        <p:blipFill>
          <a:blip r:embed="rId5"/>
          <a:stretch/>
        </p:blipFill>
        <p:spPr>
          <a:xfrm>
            <a:off x="581040" y="2768040"/>
            <a:ext cx="11528280" cy="55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8" name="Picture 11" descr=""/>
          <p:cNvPicPr/>
          <p:nvPr/>
        </p:nvPicPr>
        <p:blipFill>
          <a:blip r:embed="rId6"/>
          <a:stretch/>
        </p:blipFill>
        <p:spPr>
          <a:xfrm>
            <a:off x="10490760" y="2768040"/>
            <a:ext cx="7812360" cy="222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TextBox 10"/>
          <p:cNvSpPr/>
          <p:nvPr/>
        </p:nvSpPr>
        <p:spPr>
          <a:xfrm>
            <a:off x="7935120" y="3093120"/>
            <a:ext cx="3597120" cy="133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ts val="3359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00" name="TextBox 16"/>
          <p:cNvSpPr/>
          <p:nvPr/>
        </p:nvSpPr>
        <p:spPr>
          <a:xfrm>
            <a:off x="10399320" y="2354760"/>
            <a:ext cx="3597120" cy="133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ts val="3359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01" name="Freeform 19"/>
          <p:cNvSpPr/>
          <p:nvPr/>
        </p:nvSpPr>
        <p:spPr>
          <a:xfrm>
            <a:off x="6477120" y="2857680"/>
            <a:ext cx="4984560" cy="4101120"/>
          </a:xfrm>
          <a:custGeom>
            <a:avLst/>
            <a:gdLst>
              <a:gd name="textAreaLeft" fmla="*/ 0 w 4984560"/>
              <a:gd name="textAreaRight" fmla="*/ 4984920 w 4984560"/>
              <a:gd name="textAreaTop" fmla="*/ 0 h 4101120"/>
              <a:gd name="textAreaBottom" fmla="*/ 4101480 h 4101120"/>
            </a:gdLst>
            <a:ahLst/>
            <a:rect l="textAreaLeft" t="textAreaTop" r="textAreaRight" b="textAreaBottom"/>
            <a:pathLst>
              <a:path w="6350000" h="6349987">
                <a:moveTo>
                  <a:pt x="3175000" y="6349987"/>
                </a:moveTo>
                <a:cubicBezTo>
                  <a:pt x="1424279" y="6349987"/>
                  <a:pt x="0" y="4925733"/>
                  <a:pt x="0" y="3175038"/>
                </a:cubicBezTo>
                <a:cubicBezTo>
                  <a:pt x="0" y="1424317"/>
                  <a:pt x="1424292" y="0"/>
                  <a:pt x="3175000" y="0"/>
                </a:cubicBezTo>
                <a:cubicBezTo>
                  <a:pt x="4925733" y="0"/>
                  <a:pt x="6350000" y="1424330"/>
                  <a:pt x="6350000" y="3175038"/>
                </a:cubicBezTo>
                <a:cubicBezTo>
                  <a:pt x="6350000" y="4925720"/>
                  <a:pt x="4925733" y="6349987"/>
                  <a:pt x="3175000" y="6349987"/>
                </a:cubicBezTo>
                <a:close/>
                <a:moveTo>
                  <a:pt x="3175000" y="115760"/>
                </a:moveTo>
                <a:cubicBezTo>
                  <a:pt x="1488135" y="115760"/>
                  <a:pt x="115760" y="1488148"/>
                  <a:pt x="115760" y="3175038"/>
                </a:cubicBezTo>
                <a:cubicBezTo>
                  <a:pt x="115760" y="4861915"/>
                  <a:pt x="1488135" y="6234265"/>
                  <a:pt x="3175000" y="6234265"/>
                </a:cubicBezTo>
                <a:cubicBezTo>
                  <a:pt x="4861852" y="6234265"/>
                  <a:pt x="6234265" y="4861890"/>
                  <a:pt x="6234265" y="3175038"/>
                </a:cubicBezTo>
                <a:cubicBezTo>
                  <a:pt x="6234265" y="1488148"/>
                  <a:pt x="4861852" y="115760"/>
                  <a:pt x="3175000" y="115760"/>
                </a:cubicBezTo>
                <a:close/>
              </a:path>
            </a:pathLst>
          </a:custGeom>
          <a:solidFill>
            <a:srgbClr val="17e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494949"/>
                </a:solidFill>
                <a:uFillTx/>
                <a:latin typeface="Menlo"/>
              </a:rPr>
              <a:t>d. Purchasing Configuration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602" name="Group 20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603" name="Freeform 21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604" name="Group 22"/>
          <p:cNvGrpSpPr/>
          <p:nvPr/>
        </p:nvGrpSpPr>
        <p:grpSpPr>
          <a:xfrm>
            <a:off x="15561360" y="-3076560"/>
            <a:ext cx="7200720" cy="10286640"/>
            <a:chOff x="15561360" y="-3076560"/>
            <a:chExt cx="7200720" cy="10286640"/>
          </a:xfrm>
        </p:grpSpPr>
        <p:sp>
          <p:nvSpPr>
            <p:cNvPr id="605" name="Freeform 23"/>
            <p:cNvSpPr/>
            <p:nvPr/>
          </p:nvSpPr>
          <p:spPr>
            <a:xfrm>
              <a:off x="15561360" y="-3076560"/>
              <a:ext cx="7200720" cy="10286640"/>
            </a:xfrm>
            <a:custGeom>
              <a:avLst/>
              <a:gdLst>
                <a:gd name="textAreaLeft" fmla="*/ 0 w 7200720"/>
                <a:gd name="textAreaRight" fmla="*/ 7201080 w 720072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>
                <a:alphaModFix amt="1800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606" name="Group 24"/>
          <p:cNvGrpSpPr/>
          <p:nvPr/>
        </p:nvGrpSpPr>
        <p:grpSpPr>
          <a:xfrm>
            <a:off x="-4474080" y="-509400"/>
            <a:ext cx="7200720" cy="10286640"/>
            <a:chOff x="-4474080" y="-509400"/>
            <a:chExt cx="7200720" cy="10286640"/>
          </a:xfrm>
        </p:grpSpPr>
        <p:sp>
          <p:nvSpPr>
            <p:cNvPr id="607" name="Freeform 25"/>
            <p:cNvSpPr/>
            <p:nvPr/>
          </p:nvSpPr>
          <p:spPr>
            <a:xfrm>
              <a:off x="-4474080" y="-509400"/>
              <a:ext cx="7200720" cy="10286640"/>
            </a:xfrm>
            <a:custGeom>
              <a:avLst/>
              <a:gdLst>
                <a:gd name="textAreaLeft" fmla="*/ 0 w 7200720"/>
                <a:gd name="textAreaRight" fmla="*/ 7201080 w 720072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3">
                <a:alphaModFix amt="1800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608" name="Group 26"/>
          <p:cNvGrpSpPr/>
          <p:nvPr/>
        </p:nvGrpSpPr>
        <p:grpSpPr>
          <a:xfrm>
            <a:off x="-4722480" y="267840"/>
            <a:ext cx="5753880" cy="8219880"/>
            <a:chOff x="-4722480" y="267840"/>
            <a:chExt cx="5753880" cy="8219880"/>
          </a:xfrm>
        </p:grpSpPr>
        <p:sp>
          <p:nvSpPr>
            <p:cNvPr id="609" name="Freeform 27"/>
            <p:cNvSpPr/>
            <p:nvPr/>
          </p:nvSpPr>
          <p:spPr>
            <a:xfrm rot="10800000">
              <a:off x="-4722120" y="26784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610" name="Rectangle 3"/>
          <p:cNvSpPr/>
          <p:nvPr/>
        </p:nvSpPr>
        <p:spPr>
          <a:xfrm>
            <a:off x="8549280" y="258480"/>
            <a:ext cx="14932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494949"/>
                </a:solidFill>
                <a:uFillTx/>
                <a:latin typeface="Menlo"/>
              </a:rPr>
              <a:t>Purchasing Module Setup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1" name="Rectangle 1"/>
          <p:cNvSpPr/>
          <p:nvPr/>
        </p:nvSpPr>
        <p:spPr>
          <a:xfrm>
            <a:off x="8501400" y="106200"/>
            <a:ext cx="12844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494949"/>
                </a:solidFill>
                <a:uFillTx/>
                <a:latin typeface="Menlo"/>
              </a:rPr>
              <a:t>System Configuration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12" name="Picture 2" descr="Purchase order Generic color fill icon | Freepik"/>
          <p:cNvPicPr/>
          <p:nvPr/>
        </p:nvPicPr>
        <p:blipFill>
          <a:blip r:embed="rId5"/>
          <a:stretch/>
        </p:blipFill>
        <p:spPr>
          <a:xfrm>
            <a:off x="5856120" y="7210440"/>
            <a:ext cx="4876560" cy="2923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614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615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616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617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618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619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620" name="TextBox 6"/>
          <p:cNvSpPr/>
          <p:nvPr/>
        </p:nvSpPr>
        <p:spPr>
          <a:xfrm>
            <a:off x="2411280" y="813240"/>
            <a:ext cx="140929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</a:rPr>
              <a:t>Create People in the system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621" name="Picture 8" descr=""/>
          <p:cNvPicPr/>
          <p:nvPr/>
        </p:nvPicPr>
        <p:blipFill>
          <a:blip r:embed="rId5"/>
          <a:stretch/>
        </p:blipFill>
        <p:spPr>
          <a:xfrm>
            <a:off x="1406880" y="2343960"/>
            <a:ext cx="5763960" cy="384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2" name="Picture 11" descr=""/>
          <p:cNvPicPr/>
          <p:nvPr/>
        </p:nvPicPr>
        <p:blipFill>
          <a:blip r:embed="rId6"/>
          <a:stretch/>
        </p:blipFill>
        <p:spPr>
          <a:xfrm>
            <a:off x="7724880" y="2333160"/>
            <a:ext cx="10562760" cy="132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3" name="Picture 13" descr=""/>
          <p:cNvPicPr/>
          <p:nvPr/>
        </p:nvPicPr>
        <p:blipFill>
          <a:blip r:embed="rId7"/>
          <a:stretch/>
        </p:blipFill>
        <p:spPr>
          <a:xfrm>
            <a:off x="1406880" y="6446520"/>
            <a:ext cx="5763960" cy="384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4" name="Picture 17" descr=""/>
          <p:cNvPicPr/>
          <p:nvPr/>
        </p:nvPicPr>
        <p:blipFill>
          <a:blip r:embed="rId8"/>
          <a:stretch/>
        </p:blipFill>
        <p:spPr>
          <a:xfrm>
            <a:off x="8992800" y="6161760"/>
            <a:ext cx="5822640" cy="384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5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626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627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628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629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630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631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632" name="TextBox 6"/>
          <p:cNvSpPr/>
          <p:nvPr/>
        </p:nvSpPr>
        <p:spPr>
          <a:xfrm>
            <a:off x="2097360" y="826200"/>
            <a:ext cx="140929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</a:rPr>
              <a:t>Purchasing Module (Financial Options)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633" name="Picture 8" descr=""/>
          <p:cNvPicPr/>
          <p:nvPr/>
        </p:nvPicPr>
        <p:blipFill>
          <a:blip r:embed="rId5"/>
          <a:stretch/>
        </p:blipFill>
        <p:spPr>
          <a:xfrm>
            <a:off x="3124080" y="3051360"/>
            <a:ext cx="9136440" cy="5559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635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636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637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638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639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640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641" name="TextBox 6"/>
          <p:cNvSpPr/>
          <p:nvPr/>
        </p:nvSpPr>
        <p:spPr>
          <a:xfrm>
            <a:off x="2441520" y="1074600"/>
            <a:ext cx="140929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</a:rPr>
              <a:t>Purchasing Options1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642" name="Picture 8" descr=""/>
          <p:cNvPicPr/>
          <p:nvPr/>
        </p:nvPicPr>
        <p:blipFill>
          <a:blip r:embed="rId5"/>
          <a:stretch/>
        </p:blipFill>
        <p:spPr>
          <a:xfrm>
            <a:off x="1373760" y="2476800"/>
            <a:ext cx="12283920" cy="287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3" name="Picture 11" descr=""/>
          <p:cNvPicPr/>
          <p:nvPr/>
        </p:nvPicPr>
        <p:blipFill>
          <a:blip r:embed="rId6"/>
          <a:stretch/>
        </p:blipFill>
        <p:spPr>
          <a:xfrm>
            <a:off x="1219320" y="6231600"/>
            <a:ext cx="12676680" cy="1959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4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645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646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647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648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649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650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651" name="TextBox 6"/>
          <p:cNvSpPr/>
          <p:nvPr/>
        </p:nvSpPr>
        <p:spPr>
          <a:xfrm>
            <a:off x="2441520" y="835920"/>
            <a:ext cx="140929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</a:rPr>
              <a:t>Purchasing Options 2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652" name="Picture 8" descr=""/>
          <p:cNvPicPr/>
          <p:nvPr/>
        </p:nvPicPr>
        <p:blipFill>
          <a:blip r:embed="rId5"/>
          <a:stretch/>
        </p:blipFill>
        <p:spPr>
          <a:xfrm>
            <a:off x="966240" y="2104920"/>
            <a:ext cx="6921000" cy="278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3" name="Picture 11" descr=""/>
          <p:cNvPicPr/>
          <p:nvPr/>
        </p:nvPicPr>
        <p:blipFill>
          <a:blip r:embed="rId6"/>
          <a:stretch/>
        </p:blipFill>
        <p:spPr>
          <a:xfrm>
            <a:off x="8296560" y="2297520"/>
            <a:ext cx="7628760" cy="139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4" name="Picture 13" descr=""/>
          <p:cNvPicPr/>
          <p:nvPr/>
        </p:nvPicPr>
        <p:blipFill>
          <a:blip r:embed="rId7"/>
          <a:stretch/>
        </p:blipFill>
        <p:spPr>
          <a:xfrm>
            <a:off x="1081080" y="5832000"/>
            <a:ext cx="13752360" cy="159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5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656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657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658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659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660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661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662" name="TextBox 6"/>
          <p:cNvSpPr/>
          <p:nvPr/>
        </p:nvSpPr>
        <p:spPr>
          <a:xfrm>
            <a:off x="1986480" y="1074600"/>
            <a:ext cx="140929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</a:rPr>
              <a:t>Create Supplier &amp; Supplier Sites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663" name="Picture 8" descr=""/>
          <p:cNvPicPr/>
          <p:nvPr/>
        </p:nvPicPr>
        <p:blipFill>
          <a:blip r:embed="rId5"/>
          <a:stretch/>
        </p:blipFill>
        <p:spPr>
          <a:xfrm>
            <a:off x="581040" y="3009960"/>
            <a:ext cx="8867520" cy="152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4" name="Picture 11" descr=""/>
          <p:cNvPicPr/>
          <p:nvPr/>
        </p:nvPicPr>
        <p:blipFill>
          <a:blip r:embed="rId6"/>
          <a:stretch/>
        </p:blipFill>
        <p:spPr>
          <a:xfrm>
            <a:off x="9906120" y="2841480"/>
            <a:ext cx="8192520" cy="339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5" name="Picture 13" descr=""/>
          <p:cNvPicPr/>
          <p:nvPr/>
        </p:nvPicPr>
        <p:blipFill>
          <a:blip r:embed="rId7"/>
          <a:stretch/>
        </p:blipFill>
        <p:spPr>
          <a:xfrm>
            <a:off x="581040" y="6819480"/>
            <a:ext cx="10767600" cy="108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6" name="Picture 17" descr=""/>
          <p:cNvPicPr/>
          <p:nvPr/>
        </p:nvPicPr>
        <p:blipFill>
          <a:blip r:embed="rId8"/>
          <a:stretch/>
        </p:blipFill>
        <p:spPr>
          <a:xfrm>
            <a:off x="6553080" y="8028720"/>
            <a:ext cx="10972440" cy="1894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7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668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669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670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671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672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673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674" name="TextBox 6"/>
          <p:cNvSpPr/>
          <p:nvPr/>
        </p:nvSpPr>
        <p:spPr>
          <a:xfrm>
            <a:off x="2097360" y="1074600"/>
            <a:ext cx="140929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</a:rPr>
              <a:t>Supplier Definition 2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675" name="Picture 8" descr=""/>
          <p:cNvPicPr/>
          <p:nvPr/>
        </p:nvPicPr>
        <p:blipFill>
          <a:blip r:embed="rId5"/>
          <a:stretch/>
        </p:blipFill>
        <p:spPr>
          <a:xfrm>
            <a:off x="1305360" y="2191320"/>
            <a:ext cx="16220160" cy="122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6" name="Picture 11" descr=""/>
          <p:cNvPicPr/>
          <p:nvPr/>
        </p:nvPicPr>
        <p:blipFill>
          <a:blip r:embed="rId6"/>
          <a:stretch/>
        </p:blipFill>
        <p:spPr>
          <a:xfrm>
            <a:off x="1381680" y="3785040"/>
            <a:ext cx="16144200" cy="239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7" name="Picture 13" descr=""/>
          <p:cNvPicPr/>
          <p:nvPr/>
        </p:nvPicPr>
        <p:blipFill>
          <a:blip r:embed="rId7"/>
          <a:stretch/>
        </p:blipFill>
        <p:spPr>
          <a:xfrm>
            <a:off x="1381680" y="7342200"/>
            <a:ext cx="7364520" cy="145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8" name="TextBox 17"/>
          <p:cNvSpPr/>
          <p:nvPr/>
        </p:nvSpPr>
        <p:spPr>
          <a:xfrm>
            <a:off x="10718640" y="7818840"/>
            <a:ext cx="14092920" cy="7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lt1"/>
                </a:solidFill>
                <a:uFillTx/>
                <a:latin typeface="Arial"/>
              </a:rPr>
              <a:t>Purchasing &gt; Supply Base &gt; suppliers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79" name="TextBox 19"/>
          <p:cNvSpPr/>
          <p:nvPr/>
        </p:nvSpPr>
        <p:spPr>
          <a:xfrm>
            <a:off x="10711080" y="7056720"/>
            <a:ext cx="1972080" cy="8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6355"/>
              </a:lnSpc>
            </a:pPr>
            <a:r>
              <a:rPr b="1" lang="en-US" sz="4000" strike="noStrike" u="none">
                <a:solidFill>
                  <a:srgbClr val="17e3b2"/>
                </a:solidFill>
                <a:uFillTx/>
                <a:latin typeface="Almarai Bold"/>
                <a:ea typeface="Almarai Bold"/>
              </a:rPr>
              <a:t>Path</a:t>
            </a:r>
            <a:endParaRPr b="0" lang="en-US" sz="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0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681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682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683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684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685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686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687" name="TextBox 6"/>
          <p:cNvSpPr/>
          <p:nvPr/>
        </p:nvSpPr>
        <p:spPr>
          <a:xfrm>
            <a:off x="2666880" y="813240"/>
            <a:ext cx="140929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</a:rPr>
              <a:t>ITEM Category Configuration 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688" name="Picture 8" descr=""/>
          <p:cNvPicPr/>
          <p:nvPr/>
        </p:nvPicPr>
        <p:blipFill>
          <a:blip r:embed="rId5"/>
          <a:stretch/>
        </p:blipFill>
        <p:spPr>
          <a:xfrm>
            <a:off x="1558440" y="2066760"/>
            <a:ext cx="14443200" cy="384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9" name="Picture 11" descr=""/>
          <p:cNvPicPr/>
          <p:nvPr/>
        </p:nvPicPr>
        <p:blipFill>
          <a:blip r:embed="rId6"/>
          <a:stretch/>
        </p:blipFill>
        <p:spPr>
          <a:xfrm>
            <a:off x="1753200" y="6896160"/>
            <a:ext cx="6846840" cy="191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0" name="Picture 13" descr=""/>
          <p:cNvPicPr/>
          <p:nvPr/>
        </p:nvPicPr>
        <p:blipFill>
          <a:blip r:embed="rId7"/>
          <a:stretch/>
        </p:blipFill>
        <p:spPr>
          <a:xfrm>
            <a:off x="9240120" y="5907240"/>
            <a:ext cx="6642000" cy="4388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1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692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693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694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695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696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697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698" name="TextBox 6"/>
          <p:cNvSpPr/>
          <p:nvPr/>
        </p:nvSpPr>
        <p:spPr>
          <a:xfrm>
            <a:off x="2895480" y="1074600"/>
            <a:ext cx="140929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</a:rPr>
              <a:t>Assign Categories to Items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699" name="Picture 8" descr=""/>
          <p:cNvPicPr/>
          <p:nvPr/>
        </p:nvPicPr>
        <p:blipFill>
          <a:blip r:embed="rId5"/>
          <a:stretch/>
        </p:blipFill>
        <p:spPr>
          <a:xfrm>
            <a:off x="2865240" y="2476800"/>
            <a:ext cx="11752560" cy="5866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TextBox 10"/>
          <p:cNvSpPr/>
          <p:nvPr/>
        </p:nvSpPr>
        <p:spPr>
          <a:xfrm>
            <a:off x="7935120" y="3093120"/>
            <a:ext cx="3597120" cy="133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ts val="3359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01" name="TextBox 16"/>
          <p:cNvSpPr/>
          <p:nvPr/>
        </p:nvSpPr>
        <p:spPr>
          <a:xfrm>
            <a:off x="10399320" y="2354760"/>
            <a:ext cx="3597120" cy="133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ts val="3359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02" name="Freeform 19"/>
          <p:cNvSpPr/>
          <p:nvPr/>
        </p:nvSpPr>
        <p:spPr>
          <a:xfrm>
            <a:off x="6477120" y="2857680"/>
            <a:ext cx="4984560" cy="4101120"/>
          </a:xfrm>
          <a:custGeom>
            <a:avLst/>
            <a:gdLst>
              <a:gd name="textAreaLeft" fmla="*/ 0 w 4984560"/>
              <a:gd name="textAreaRight" fmla="*/ 4984920 w 4984560"/>
              <a:gd name="textAreaTop" fmla="*/ 0 h 4101120"/>
              <a:gd name="textAreaBottom" fmla="*/ 4101480 h 4101120"/>
            </a:gdLst>
            <a:ahLst/>
            <a:rect l="textAreaLeft" t="textAreaTop" r="textAreaRight" b="textAreaBottom"/>
            <a:pathLst>
              <a:path w="6350000" h="6349987">
                <a:moveTo>
                  <a:pt x="3175000" y="6349987"/>
                </a:moveTo>
                <a:cubicBezTo>
                  <a:pt x="1424279" y="6349987"/>
                  <a:pt x="0" y="4925733"/>
                  <a:pt x="0" y="3175038"/>
                </a:cubicBezTo>
                <a:cubicBezTo>
                  <a:pt x="0" y="1424317"/>
                  <a:pt x="1424292" y="0"/>
                  <a:pt x="3175000" y="0"/>
                </a:cubicBezTo>
                <a:cubicBezTo>
                  <a:pt x="4925733" y="0"/>
                  <a:pt x="6350000" y="1424330"/>
                  <a:pt x="6350000" y="3175038"/>
                </a:cubicBezTo>
                <a:cubicBezTo>
                  <a:pt x="6350000" y="4925720"/>
                  <a:pt x="4925733" y="6349987"/>
                  <a:pt x="3175000" y="6349987"/>
                </a:cubicBezTo>
                <a:close/>
                <a:moveTo>
                  <a:pt x="3175000" y="115760"/>
                </a:moveTo>
                <a:cubicBezTo>
                  <a:pt x="1488135" y="115760"/>
                  <a:pt x="115760" y="1488148"/>
                  <a:pt x="115760" y="3175038"/>
                </a:cubicBezTo>
                <a:cubicBezTo>
                  <a:pt x="115760" y="4861915"/>
                  <a:pt x="1488135" y="6234265"/>
                  <a:pt x="3175000" y="6234265"/>
                </a:cubicBezTo>
                <a:cubicBezTo>
                  <a:pt x="4861852" y="6234265"/>
                  <a:pt x="6234265" y="4861890"/>
                  <a:pt x="6234265" y="3175038"/>
                </a:cubicBezTo>
                <a:cubicBezTo>
                  <a:pt x="6234265" y="1488148"/>
                  <a:pt x="4861852" y="115760"/>
                  <a:pt x="3175000" y="115760"/>
                </a:cubicBezTo>
                <a:close/>
              </a:path>
            </a:pathLst>
          </a:custGeom>
          <a:solidFill>
            <a:srgbClr val="17e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Almarai Bold"/>
              </a:rPr>
              <a:t>Request for Quotations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703" name="Group 20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704" name="Freeform 21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705" name="Group 22"/>
          <p:cNvGrpSpPr/>
          <p:nvPr/>
        </p:nvGrpSpPr>
        <p:grpSpPr>
          <a:xfrm>
            <a:off x="15561360" y="-3076560"/>
            <a:ext cx="7200720" cy="10286640"/>
            <a:chOff x="15561360" y="-3076560"/>
            <a:chExt cx="7200720" cy="10286640"/>
          </a:xfrm>
        </p:grpSpPr>
        <p:sp>
          <p:nvSpPr>
            <p:cNvPr id="706" name="Freeform 23"/>
            <p:cNvSpPr/>
            <p:nvPr/>
          </p:nvSpPr>
          <p:spPr>
            <a:xfrm>
              <a:off x="15561360" y="-3076560"/>
              <a:ext cx="7200720" cy="10286640"/>
            </a:xfrm>
            <a:custGeom>
              <a:avLst/>
              <a:gdLst>
                <a:gd name="textAreaLeft" fmla="*/ 0 w 7200720"/>
                <a:gd name="textAreaRight" fmla="*/ 7201080 w 720072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>
                <a:alphaModFix amt="1800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707" name="Group 24"/>
          <p:cNvGrpSpPr/>
          <p:nvPr/>
        </p:nvGrpSpPr>
        <p:grpSpPr>
          <a:xfrm>
            <a:off x="-4474080" y="-509400"/>
            <a:ext cx="7200720" cy="10286640"/>
            <a:chOff x="-4474080" y="-509400"/>
            <a:chExt cx="7200720" cy="10286640"/>
          </a:xfrm>
        </p:grpSpPr>
        <p:sp>
          <p:nvSpPr>
            <p:cNvPr id="708" name="Freeform 25"/>
            <p:cNvSpPr/>
            <p:nvPr/>
          </p:nvSpPr>
          <p:spPr>
            <a:xfrm>
              <a:off x="-4474080" y="-509400"/>
              <a:ext cx="7200720" cy="10286640"/>
            </a:xfrm>
            <a:custGeom>
              <a:avLst/>
              <a:gdLst>
                <a:gd name="textAreaLeft" fmla="*/ 0 w 7200720"/>
                <a:gd name="textAreaRight" fmla="*/ 7201080 w 720072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3">
                <a:alphaModFix amt="1800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709" name="Group 26"/>
          <p:cNvGrpSpPr/>
          <p:nvPr/>
        </p:nvGrpSpPr>
        <p:grpSpPr>
          <a:xfrm>
            <a:off x="-4722480" y="267840"/>
            <a:ext cx="5753880" cy="8219880"/>
            <a:chOff x="-4722480" y="267840"/>
            <a:chExt cx="5753880" cy="8219880"/>
          </a:xfrm>
        </p:grpSpPr>
        <p:sp>
          <p:nvSpPr>
            <p:cNvPr id="710" name="Freeform 27"/>
            <p:cNvSpPr/>
            <p:nvPr/>
          </p:nvSpPr>
          <p:spPr>
            <a:xfrm rot="10800000">
              <a:off x="-4722120" y="26784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711" name="Rectangle 3"/>
          <p:cNvSpPr/>
          <p:nvPr/>
        </p:nvSpPr>
        <p:spPr>
          <a:xfrm>
            <a:off x="8549280" y="258480"/>
            <a:ext cx="14932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494949"/>
                </a:solidFill>
                <a:uFillTx/>
                <a:latin typeface="Menlo"/>
              </a:rPr>
              <a:t>Purchasing Module Setup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2" name="Rectangle 1"/>
          <p:cNvSpPr/>
          <p:nvPr/>
        </p:nvSpPr>
        <p:spPr>
          <a:xfrm>
            <a:off x="8501400" y="106200"/>
            <a:ext cx="12844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494949"/>
                </a:solidFill>
                <a:uFillTx/>
                <a:latin typeface="Menlo"/>
              </a:rPr>
              <a:t>System Configuration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13" name="Picture 2" descr="IconExperience » V-Collection » Rfq Icon"/>
          <p:cNvPicPr/>
          <p:nvPr/>
        </p:nvPicPr>
        <p:blipFill>
          <a:blip r:embed="rId5"/>
          <a:stretch/>
        </p:blipFill>
        <p:spPr>
          <a:xfrm>
            <a:off x="6937920" y="7076880"/>
            <a:ext cx="3209760" cy="3209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4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715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716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717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718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719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720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721" name="TextBox 6"/>
          <p:cNvSpPr/>
          <p:nvPr/>
        </p:nvSpPr>
        <p:spPr>
          <a:xfrm>
            <a:off x="1843200" y="2917440"/>
            <a:ext cx="14092920" cy="734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lt1"/>
                </a:solidFill>
                <a:uFillTx/>
                <a:latin typeface="Times New Roman"/>
              </a:rPr>
              <a:t>Request for Quotations : a purchasing document sent to supplier to inquiry about prices and terms of items.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lt1"/>
                </a:solidFill>
                <a:uFillTx/>
                <a:latin typeface="Times New Roman"/>
              </a:rPr>
              <a:t>●</a:t>
            </a:r>
            <a:r>
              <a:rPr b="1" lang="en-US" sz="2800" strike="noStrike" u="none">
                <a:solidFill>
                  <a:schemeClr val="lt1"/>
                </a:solidFill>
                <a:uFillTx/>
                <a:latin typeface="Times New Roman"/>
              </a:rPr>
              <a:t>Catalog RFQ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371600" indent="-457200" defTabSz="9144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en-US" sz="2800" strike="noStrike" u="none">
                <a:solidFill>
                  <a:schemeClr val="lt1"/>
                </a:solidFill>
                <a:uFillTx/>
                <a:latin typeface="Arial"/>
              </a:rPr>
              <a:t>High Volume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371600" indent="-457200" defTabSz="9144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en-US" sz="2800" strike="noStrike" u="none">
                <a:solidFill>
                  <a:schemeClr val="lt1"/>
                </a:solidFill>
                <a:uFillTx/>
                <a:latin typeface="Arial"/>
              </a:rPr>
              <a:t>Price breaks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lt1"/>
                </a:solidFill>
                <a:uFillTx/>
                <a:latin typeface="Arial"/>
              </a:rPr>
              <a:t>●</a:t>
            </a:r>
            <a:r>
              <a:rPr b="1" lang="en-US" sz="2800" strike="noStrike" u="none">
                <a:solidFill>
                  <a:schemeClr val="lt1"/>
                </a:solidFill>
                <a:uFillTx/>
                <a:latin typeface="Times New Roman"/>
              </a:rPr>
              <a:t>BID RFQ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371600" indent="-457200" defTabSz="9144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en-US" sz="2800" strike="noStrike" u="none">
                <a:solidFill>
                  <a:schemeClr val="lt1"/>
                </a:solidFill>
                <a:uFillTx/>
                <a:latin typeface="Arial"/>
              </a:rPr>
              <a:t>High Volume 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371600" indent="-457200" defTabSz="9144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en-US" sz="2800" strike="noStrike" u="none">
                <a:solidFill>
                  <a:schemeClr val="lt1"/>
                </a:solidFill>
                <a:uFillTx/>
                <a:latin typeface="Arial"/>
              </a:rPr>
              <a:t>One time purchase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371600" indent="-457200" defTabSz="9144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en-US" sz="2800" strike="noStrike" u="none">
                <a:solidFill>
                  <a:schemeClr val="lt1"/>
                </a:solidFill>
                <a:uFillTx/>
                <a:latin typeface="Arial"/>
              </a:rPr>
              <a:t>No price breaks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lt1"/>
                </a:solidFill>
                <a:uFillTx/>
                <a:latin typeface="Arial"/>
              </a:rPr>
              <a:t>●</a:t>
            </a:r>
            <a:r>
              <a:rPr b="1" lang="en-US" sz="2800" strike="noStrike" u="none">
                <a:solidFill>
                  <a:schemeClr val="lt1"/>
                </a:solidFill>
                <a:uFillTx/>
                <a:latin typeface="Times New Roman"/>
              </a:rPr>
              <a:t>Standard RFQ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371600" indent="-457200" defTabSz="9144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en-US" sz="2800" strike="noStrike" u="none">
                <a:solidFill>
                  <a:schemeClr val="lt1"/>
                </a:solidFill>
                <a:uFillTx/>
                <a:latin typeface="Arial"/>
              </a:rPr>
              <a:t>Price breaks 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371600" indent="-457200" defTabSz="914400">
              <a:lnSpc>
                <a:spcPct val="100000"/>
              </a:lnSpc>
              <a:buClr>
                <a:srgbClr val="ffffff"/>
              </a:buClr>
              <a:buFont typeface="Wingdings" charset="2"/>
              <a:buChar char=""/>
            </a:pPr>
            <a:r>
              <a:rPr b="0" lang="en-US" sz="2800" strike="noStrike" u="none">
                <a:solidFill>
                  <a:schemeClr val="lt1"/>
                </a:solidFill>
                <a:uFillTx/>
                <a:latin typeface="Arial"/>
              </a:rPr>
              <a:t>More flexible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22" name="TextBox 8"/>
          <p:cNvSpPr/>
          <p:nvPr/>
        </p:nvSpPr>
        <p:spPr>
          <a:xfrm>
            <a:off x="2465280" y="1074600"/>
            <a:ext cx="140929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</a:rPr>
              <a:t>Request for Quotations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3" name="Group 2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724" name="Freeform 3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725" name="Group 4"/>
          <p:cNvGrpSpPr/>
          <p:nvPr/>
        </p:nvGrpSpPr>
        <p:grpSpPr>
          <a:xfrm>
            <a:off x="-5173200" y="-2043000"/>
            <a:ext cx="5753880" cy="8219880"/>
            <a:chOff x="-5173200" y="-2043000"/>
            <a:chExt cx="5753880" cy="8219880"/>
          </a:xfrm>
        </p:grpSpPr>
        <p:sp>
          <p:nvSpPr>
            <p:cNvPr id="726" name="Freeform 5"/>
            <p:cNvSpPr/>
            <p:nvPr/>
          </p:nvSpPr>
          <p:spPr>
            <a:xfrm>
              <a:off x="-5173200" y="-204300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727" name="Freeform 10"/>
          <p:cNvSpPr/>
          <p:nvPr/>
        </p:nvSpPr>
        <p:spPr>
          <a:xfrm>
            <a:off x="10400400" y="2476800"/>
            <a:ext cx="6134040" cy="6134040"/>
          </a:xfrm>
          <a:custGeom>
            <a:avLst/>
            <a:gdLst>
              <a:gd name="textAreaLeft" fmla="*/ 0 w 6134040"/>
              <a:gd name="textAreaRight" fmla="*/ 6134400 w 6134040"/>
              <a:gd name="textAreaTop" fmla="*/ 0 h 6134040"/>
              <a:gd name="textAreaBottom" fmla="*/ 6134400 h 6134040"/>
            </a:gdLst>
            <a:ahLst/>
            <a:rect l="textAreaLeft" t="textAreaTop" r="textAreaRight" b="textAreaBottom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728" name="Group 15"/>
          <p:cNvGrpSpPr/>
          <p:nvPr/>
        </p:nvGrpSpPr>
        <p:grpSpPr>
          <a:xfrm>
            <a:off x="762120" y="723960"/>
            <a:ext cx="1224360" cy="1224360"/>
            <a:chOff x="762120" y="723960"/>
            <a:chExt cx="1224360" cy="1224360"/>
          </a:xfrm>
        </p:grpSpPr>
        <p:sp>
          <p:nvSpPr>
            <p:cNvPr id="729" name="Freeform 16"/>
            <p:cNvSpPr/>
            <p:nvPr/>
          </p:nvSpPr>
          <p:spPr>
            <a:xfrm rot="5400000">
              <a:off x="761760" y="72360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730" name="TextBox 7"/>
          <p:cNvSpPr/>
          <p:nvPr/>
        </p:nvSpPr>
        <p:spPr>
          <a:xfrm>
            <a:off x="2472120" y="813240"/>
            <a:ext cx="140929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5030" strike="noStrike" u="none">
                <a:solidFill>
                  <a:srgbClr val="ffffff"/>
                </a:solidFill>
                <a:uFillTx/>
                <a:latin typeface="Almarai Bold"/>
              </a:rPr>
              <a:t>Request For Quotation</a:t>
            </a:r>
            <a:endParaRPr b="0" lang="en-US" sz="50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731" name="Picture 11" descr=""/>
          <p:cNvPicPr/>
          <p:nvPr/>
        </p:nvPicPr>
        <p:blipFill>
          <a:blip r:embed="rId5"/>
          <a:stretch/>
        </p:blipFill>
        <p:spPr>
          <a:xfrm>
            <a:off x="4142880" y="2144520"/>
            <a:ext cx="6905160" cy="4798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2" name="Picture 13" descr=""/>
          <p:cNvPicPr/>
          <p:nvPr/>
        </p:nvPicPr>
        <p:blipFill>
          <a:blip r:embed="rId6"/>
          <a:stretch/>
        </p:blipFill>
        <p:spPr>
          <a:xfrm>
            <a:off x="1296360" y="7973640"/>
            <a:ext cx="9744120" cy="150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3" name="Picture 17" descr=""/>
          <p:cNvPicPr/>
          <p:nvPr/>
        </p:nvPicPr>
        <p:blipFill>
          <a:blip r:embed="rId7"/>
          <a:stretch/>
        </p:blipFill>
        <p:spPr>
          <a:xfrm>
            <a:off x="11506320" y="7487280"/>
            <a:ext cx="6309000" cy="2153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Freeform 7"/>
          <p:cNvSpPr/>
          <p:nvPr/>
        </p:nvSpPr>
        <p:spPr>
          <a:xfrm>
            <a:off x="3543840" y="3360600"/>
            <a:ext cx="3022920" cy="3022920"/>
          </a:xfrm>
          <a:custGeom>
            <a:avLst/>
            <a:gdLst>
              <a:gd name="textAreaLeft" fmla="*/ 0 w 3022920"/>
              <a:gd name="textAreaRight" fmla="*/ 3023280 w 3022920"/>
              <a:gd name="textAreaTop" fmla="*/ 0 h 3022920"/>
              <a:gd name="textAreaBottom" fmla="*/ 3023280 h 3022920"/>
            </a:gdLst>
            <a:ahLst/>
            <a:rect l="textAreaLeft" t="textAreaTop" r="textAreaRight" b="textAreaBottom"/>
            <a:pathLst>
              <a:path w="6350000" h="6349987">
                <a:moveTo>
                  <a:pt x="3175000" y="6349987"/>
                </a:moveTo>
                <a:cubicBezTo>
                  <a:pt x="1424279" y="6349987"/>
                  <a:pt x="0" y="4925733"/>
                  <a:pt x="0" y="3175038"/>
                </a:cubicBezTo>
                <a:cubicBezTo>
                  <a:pt x="0" y="1424317"/>
                  <a:pt x="1424292" y="0"/>
                  <a:pt x="3175000" y="0"/>
                </a:cubicBezTo>
                <a:cubicBezTo>
                  <a:pt x="4925733" y="0"/>
                  <a:pt x="6350000" y="1424330"/>
                  <a:pt x="6350000" y="3175038"/>
                </a:cubicBezTo>
                <a:cubicBezTo>
                  <a:pt x="6350000" y="4925720"/>
                  <a:pt x="4925733" y="6349987"/>
                  <a:pt x="3175000" y="6349987"/>
                </a:cubicBezTo>
                <a:close/>
                <a:moveTo>
                  <a:pt x="3175000" y="115760"/>
                </a:moveTo>
                <a:cubicBezTo>
                  <a:pt x="1488135" y="115760"/>
                  <a:pt x="115760" y="1488148"/>
                  <a:pt x="115760" y="3175038"/>
                </a:cubicBezTo>
                <a:cubicBezTo>
                  <a:pt x="115760" y="4861915"/>
                  <a:pt x="1488135" y="6234265"/>
                  <a:pt x="3175000" y="6234265"/>
                </a:cubicBezTo>
                <a:cubicBezTo>
                  <a:pt x="4861852" y="6234265"/>
                  <a:pt x="6234265" y="4861890"/>
                  <a:pt x="6234265" y="3175038"/>
                </a:cubicBezTo>
                <a:cubicBezTo>
                  <a:pt x="6234265" y="1488148"/>
                  <a:pt x="4861852" y="115760"/>
                  <a:pt x="3175000" y="115760"/>
                </a:cubicBezTo>
                <a:close/>
              </a:path>
            </a:pathLst>
          </a:custGeom>
          <a:solidFill>
            <a:srgbClr val="17e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uFillTx/>
                <a:latin typeface="Calibri"/>
              </a:rPr>
              <a:t>  </a:t>
            </a:r>
            <a:r>
              <a:rPr b="1" lang="en-US" sz="2800" strike="noStrike" u="none">
                <a:solidFill>
                  <a:schemeClr val="dk1"/>
                </a:solidFill>
                <a:uFillTx/>
                <a:latin typeface="Calibri"/>
              </a:rPr>
              <a:t>Ahmed Zakaria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5" name="Freeform 13"/>
          <p:cNvSpPr/>
          <p:nvPr/>
        </p:nvSpPr>
        <p:spPr>
          <a:xfrm>
            <a:off x="7587720" y="3360600"/>
            <a:ext cx="3022920" cy="3022920"/>
          </a:xfrm>
          <a:custGeom>
            <a:avLst/>
            <a:gdLst>
              <a:gd name="textAreaLeft" fmla="*/ 0 w 3022920"/>
              <a:gd name="textAreaRight" fmla="*/ 3023280 w 3022920"/>
              <a:gd name="textAreaTop" fmla="*/ 0 h 3022920"/>
              <a:gd name="textAreaBottom" fmla="*/ 3023280 h 3022920"/>
            </a:gdLst>
            <a:ahLst/>
            <a:rect l="textAreaLeft" t="textAreaTop" r="textAreaRight" b="textAreaBottom"/>
            <a:pathLst>
              <a:path w="6350000" h="6349987">
                <a:moveTo>
                  <a:pt x="3175000" y="6349987"/>
                </a:moveTo>
                <a:cubicBezTo>
                  <a:pt x="1424279" y="6349987"/>
                  <a:pt x="0" y="4925733"/>
                  <a:pt x="0" y="3175038"/>
                </a:cubicBezTo>
                <a:cubicBezTo>
                  <a:pt x="0" y="1424317"/>
                  <a:pt x="1424292" y="0"/>
                  <a:pt x="3175000" y="0"/>
                </a:cubicBezTo>
                <a:cubicBezTo>
                  <a:pt x="4925733" y="0"/>
                  <a:pt x="6350000" y="1424330"/>
                  <a:pt x="6350000" y="3175038"/>
                </a:cubicBezTo>
                <a:cubicBezTo>
                  <a:pt x="6350000" y="4925720"/>
                  <a:pt x="4925733" y="6349987"/>
                  <a:pt x="3175000" y="6349987"/>
                </a:cubicBezTo>
                <a:close/>
                <a:moveTo>
                  <a:pt x="3175000" y="115760"/>
                </a:moveTo>
                <a:cubicBezTo>
                  <a:pt x="1488135" y="115760"/>
                  <a:pt x="115760" y="1488148"/>
                  <a:pt x="115760" y="3175038"/>
                </a:cubicBezTo>
                <a:cubicBezTo>
                  <a:pt x="115760" y="4861915"/>
                  <a:pt x="1488135" y="6234265"/>
                  <a:pt x="3175000" y="6234265"/>
                </a:cubicBezTo>
                <a:cubicBezTo>
                  <a:pt x="4861852" y="6234265"/>
                  <a:pt x="6234265" y="4861890"/>
                  <a:pt x="6234265" y="3175038"/>
                </a:cubicBezTo>
                <a:cubicBezTo>
                  <a:pt x="6234265" y="1488148"/>
                  <a:pt x="4861852" y="115760"/>
                  <a:pt x="3175000" y="115760"/>
                </a:cubicBezTo>
                <a:close/>
              </a:path>
            </a:pathLst>
          </a:custGeom>
          <a:solidFill>
            <a:srgbClr val="17e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         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uFillTx/>
                <a:latin typeface="Calibri"/>
              </a:rPr>
              <a:t>           </a:t>
            </a:r>
            <a:r>
              <a:rPr b="1" lang="en-US" sz="2800" strike="noStrike" u="none">
                <a:solidFill>
                  <a:schemeClr val="dk1"/>
                </a:solidFill>
                <a:uFillTx/>
                <a:latin typeface="Calibri"/>
              </a:rPr>
              <a:t>Shady 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6" name="Freeform 19"/>
          <p:cNvSpPr/>
          <p:nvPr/>
        </p:nvSpPr>
        <p:spPr>
          <a:xfrm>
            <a:off x="11631600" y="3360600"/>
            <a:ext cx="3022920" cy="3022920"/>
          </a:xfrm>
          <a:custGeom>
            <a:avLst/>
            <a:gdLst>
              <a:gd name="textAreaLeft" fmla="*/ 0 w 3022920"/>
              <a:gd name="textAreaRight" fmla="*/ 3023280 w 3022920"/>
              <a:gd name="textAreaTop" fmla="*/ 0 h 3022920"/>
              <a:gd name="textAreaBottom" fmla="*/ 3023280 h 3022920"/>
            </a:gdLst>
            <a:ahLst/>
            <a:rect l="textAreaLeft" t="textAreaTop" r="textAreaRight" b="textAreaBottom"/>
            <a:pathLst>
              <a:path w="6350000" h="6349987">
                <a:moveTo>
                  <a:pt x="3175000" y="6349987"/>
                </a:moveTo>
                <a:cubicBezTo>
                  <a:pt x="1424279" y="6349987"/>
                  <a:pt x="0" y="4925733"/>
                  <a:pt x="0" y="3175038"/>
                </a:cubicBezTo>
                <a:cubicBezTo>
                  <a:pt x="0" y="1424317"/>
                  <a:pt x="1424292" y="0"/>
                  <a:pt x="3175000" y="0"/>
                </a:cubicBezTo>
                <a:cubicBezTo>
                  <a:pt x="4925733" y="0"/>
                  <a:pt x="6350000" y="1424330"/>
                  <a:pt x="6350000" y="3175038"/>
                </a:cubicBezTo>
                <a:cubicBezTo>
                  <a:pt x="6350000" y="4925720"/>
                  <a:pt x="4925733" y="6349987"/>
                  <a:pt x="3175000" y="6349987"/>
                </a:cubicBezTo>
                <a:close/>
                <a:moveTo>
                  <a:pt x="3175000" y="115760"/>
                </a:moveTo>
                <a:cubicBezTo>
                  <a:pt x="1488135" y="115760"/>
                  <a:pt x="115760" y="1488148"/>
                  <a:pt x="115760" y="3175038"/>
                </a:cubicBezTo>
                <a:cubicBezTo>
                  <a:pt x="115760" y="4861915"/>
                  <a:pt x="1488135" y="6234265"/>
                  <a:pt x="3175000" y="6234265"/>
                </a:cubicBezTo>
                <a:cubicBezTo>
                  <a:pt x="4861852" y="6234265"/>
                  <a:pt x="6234265" y="4861890"/>
                  <a:pt x="6234265" y="3175038"/>
                </a:cubicBezTo>
                <a:cubicBezTo>
                  <a:pt x="6234265" y="1488148"/>
                  <a:pt x="4861852" y="115760"/>
                  <a:pt x="3175000" y="115760"/>
                </a:cubicBezTo>
                <a:close/>
              </a:path>
            </a:pathLst>
          </a:custGeom>
          <a:solidFill>
            <a:srgbClr val="17e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uFillTx/>
                <a:latin typeface="Calibri"/>
              </a:rPr>
              <a:t>Mohamed Ibrahim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737" name="Group 20"/>
          <p:cNvGrpSpPr/>
          <p:nvPr/>
        </p:nvGrpSpPr>
        <p:grpSpPr>
          <a:xfrm>
            <a:off x="17259480" y="2066760"/>
            <a:ext cx="5753880" cy="8219880"/>
            <a:chOff x="17259480" y="2066760"/>
            <a:chExt cx="5753880" cy="8219880"/>
          </a:xfrm>
        </p:grpSpPr>
        <p:sp>
          <p:nvSpPr>
            <p:cNvPr id="738" name="Freeform 21"/>
            <p:cNvSpPr/>
            <p:nvPr/>
          </p:nvSpPr>
          <p:spPr>
            <a:xfrm>
              <a:off x="17259480" y="206676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739" name="Group 22"/>
          <p:cNvGrpSpPr/>
          <p:nvPr/>
        </p:nvGrpSpPr>
        <p:grpSpPr>
          <a:xfrm>
            <a:off x="15561360" y="-3076560"/>
            <a:ext cx="7200720" cy="10286640"/>
            <a:chOff x="15561360" y="-3076560"/>
            <a:chExt cx="7200720" cy="10286640"/>
          </a:xfrm>
        </p:grpSpPr>
        <p:sp>
          <p:nvSpPr>
            <p:cNvPr id="740" name="Freeform 23"/>
            <p:cNvSpPr/>
            <p:nvPr/>
          </p:nvSpPr>
          <p:spPr>
            <a:xfrm>
              <a:off x="15561360" y="-3076560"/>
              <a:ext cx="7200720" cy="10286640"/>
            </a:xfrm>
            <a:custGeom>
              <a:avLst/>
              <a:gdLst>
                <a:gd name="textAreaLeft" fmla="*/ 0 w 7200720"/>
                <a:gd name="textAreaRight" fmla="*/ 7201080 w 720072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2">
                <a:alphaModFix amt="1800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741" name="Group 24"/>
          <p:cNvGrpSpPr/>
          <p:nvPr/>
        </p:nvGrpSpPr>
        <p:grpSpPr>
          <a:xfrm>
            <a:off x="-4474080" y="-509400"/>
            <a:ext cx="7200720" cy="10286640"/>
            <a:chOff x="-4474080" y="-509400"/>
            <a:chExt cx="7200720" cy="10286640"/>
          </a:xfrm>
        </p:grpSpPr>
        <p:sp>
          <p:nvSpPr>
            <p:cNvPr id="742" name="Freeform 25"/>
            <p:cNvSpPr/>
            <p:nvPr/>
          </p:nvSpPr>
          <p:spPr>
            <a:xfrm>
              <a:off x="-4474080" y="-509400"/>
              <a:ext cx="7200720" cy="10286640"/>
            </a:xfrm>
            <a:custGeom>
              <a:avLst/>
              <a:gdLst>
                <a:gd name="textAreaLeft" fmla="*/ 0 w 7200720"/>
                <a:gd name="textAreaRight" fmla="*/ 7201080 w 720072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3">
                <a:alphaModFix amt="1800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743" name="Group 26"/>
          <p:cNvGrpSpPr/>
          <p:nvPr/>
        </p:nvGrpSpPr>
        <p:grpSpPr>
          <a:xfrm>
            <a:off x="-4722480" y="267840"/>
            <a:ext cx="5753880" cy="8219880"/>
            <a:chOff x="-4722480" y="267840"/>
            <a:chExt cx="5753880" cy="8219880"/>
          </a:xfrm>
        </p:grpSpPr>
        <p:sp>
          <p:nvSpPr>
            <p:cNvPr id="744" name="Freeform 27"/>
            <p:cNvSpPr/>
            <p:nvPr/>
          </p:nvSpPr>
          <p:spPr>
            <a:xfrm rot="10800000">
              <a:off x="-4722120" y="267840"/>
              <a:ext cx="5753880" cy="8219880"/>
            </a:xfrm>
            <a:custGeom>
              <a:avLst/>
              <a:gdLst>
                <a:gd name="textAreaLeft" fmla="*/ 0 w 5753880"/>
                <a:gd name="textAreaRight" fmla="*/ 5754240 w 5753880"/>
                <a:gd name="textAreaTop" fmla="*/ 0 h 8219880"/>
                <a:gd name="textAreaBottom" fmla="*/ 8220240 h 8219880"/>
              </a:gdLst>
              <a:ahLst/>
              <a:rect l="textAreaLeft" t="textAreaTop" r="textAreaRight" b="textAreaBottom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745" name="TextBox 34"/>
          <p:cNvSpPr/>
          <p:nvPr/>
        </p:nvSpPr>
        <p:spPr>
          <a:xfrm>
            <a:off x="5716800" y="1472400"/>
            <a:ext cx="685404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452"/>
              </a:lnSpc>
              <a:tabLst>
                <a:tab algn="l" pos="0"/>
              </a:tabLst>
            </a:pPr>
            <a:r>
              <a:rPr b="1" lang="en-US" sz="5370" strike="noStrike" u="none">
                <a:solidFill>
                  <a:srgbClr val="051d40"/>
                </a:solidFill>
                <a:uFillTx/>
                <a:latin typeface="Almarai Bold"/>
                <a:ea typeface="Almarai Bold"/>
              </a:rPr>
              <a:t>OUR TEAM</a:t>
            </a:r>
            <a:endParaRPr b="0" lang="en-US" sz="537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746" name="Group 35"/>
          <p:cNvGrpSpPr/>
          <p:nvPr/>
        </p:nvGrpSpPr>
        <p:grpSpPr>
          <a:xfrm>
            <a:off x="5747400" y="1279080"/>
            <a:ext cx="1224360" cy="1224360"/>
            <a:chOff x="5747400" y="1279080"/>
            <a:chExt cx="1224360" cy="1224360"/>
          </a:xfrm>
        </p:grpSpPr>
        <p:sp>
          <p:nvSpPr>
            <p:cNvPr id="747" name="Freeform 36"/>
            <p:cNvSpPr/>
            <p:nvPr/>
          </p:nvSpPr>
          <p:spPr>
            <a:xfrm rot="5400000">
              <a:off x="5747400" y="1278720"/>
              <a:ext cx="1224360" cy="1224360"/>
            </a:xfrm>
            <a:custGeom>
              <a:avLst/>
              <a:gdLst>
                <a:gd name="textAreaLeft" fmla="*/ 0 w 1224360"/>
                <a:gd name="textAreaRight" fmla="*/ 1224720 w 1224360"/>
                <a:gd name="textAreaTop" fmla="*/ 0 h 1224360"/>
                <a:gd name="textAreaBottom" fmla="*/ 1224720 h 1224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748" name="TextBox 37"/>
          <p:cNvSpPr/>
          <p:nvPr/>
        </p:nvSpPr>
        <p:spPr>
          <a:xfrm>
            <a:off x="5631480" y="1422000"/>
            <a:ext cx="1455840" cy="8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817"/>
              </a:lnSpc>
            </a:pPr>
            <a:r>
              <a:rPr b="1" lang="en-US" sz="4940" strike="noStrike" u="none">
                <a:solidFill>
                  <a:srgbClr val="051d40"/>
                </a:solidFill>
                <a:uFillTx/>
                <a:latin typeface="Almarai Bold"/>
                <a:ea typeface="Almarai Bold"/>
              </a:rPr>
              <a:t>09</a:t>
            </a:r>
            <a:endParaRPr b="0" lang="en-US" sz="494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9" name="Freeform 19"/>
          <p:cNvSpPr/>
          <p:nvPr/>
        </p:nvSpPr>
        <p:spPr>
          <a:xfrm>
            <a:off x="3543840" y="6668640"/>
            <a:ext cx="3022920" cy="3022920"/>
          </a:xfrm>
          <a:custGeom>
            <a:avLst/>
            <a:gdLst>
              <a:gd name="textAreaLeft" fmla="*/ 0 w 3022920"/>
              <a:gd name="textAreaRight" fmla="*/ 3023280 w 3022920"/>
              <a:gd name="textAreaTop" fmla="*/ 0 h 3022920"/>
              <a:gd name="textAreaBottom" fmla="*/ 3023280 h 3022920"/>
            </a:gdLst>
            <a:ahLst/>
            <a:rect l="textAreaLeft" t="textAreaTop" r="textAreaRight" b="textAreaBottom"/>
            <a:pathLst>
              <a:path w="6350000" h="6349987">
                <a:moveTo>
                  <a:pt x="3175000" y="6349987"/>
                </a:moveTo>
                <a:cubicBezTo>
                  <a:pt x="1424279" y="6349987"/>
                  <a:pt x="0" y="4925733"/>
                  <a:pt x="0" y="3175038"/>
                </a:cubicBezTo>
                <a:cubicBezTo>
                  <a:pt x="0" y="1424317"/>
                  <a:pt x="1424292" y="0"/>
                  <a:pt x="3175000" y="0"/>
                </a:cubicBezTo>
                <a:cubicBezTo>
                  <a:pt x="4925733" y="0"/>
                  <a:pt x="6350000" y="1424330"/>
                  <a:pt x="6350000" y="3175038"/>
                </a:cubicBezTo>
                <a:cubicBezTo>
                  <a:pt x="6350000" y="4925720"/>
                  <a:pt x="4925733" y="6349987"/>
                  <a:pt x="3175000" y="6349987"/>
                </a:cubicBezTo>
                <a:close/>
                <a:moveTo>
                  <a:pt x="3175000" y="115760"/>
                </a:moveTo>
                <a:cubicBezTo>
                  <a:pt x="1488135" y="115760"/>
                  <a:pt x="115760" y="1488148"/>
                  <a:pt x="115760" y="3175038"/>
                </a:cubicBezTo>
                <a:cubicBezTo>
                  <a:pt x="115760" y="4861915"/>
                  <a:pt x="1488135" y="6234265"/>
                  <a:pt x="3175000" y="6234265"/>
                </a:cubicBezTo>
                <a:cubicBezTo>
                  <a:pt x="4861852" y="6234265"/>
                  <a:pt x="6234265" y="4861890"/>
                  <a:pt x="6234265" y="3175038"/>
                </a:cubicBezTo>
                <a:cubicBezTo>
                  <a:pt x="6234265" y="1488148"/>
                  <a:pt x="4861852" y="115760"/>
                  <a:pt x="3175000" y="115760"/>
                </a:cubicBezTo>
                <a:close/>
              </a:path>
            </a:pathLst>
          </a:custGeom>
          <a:solidFill>
            <a:srgbClr val="17e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uFillTx/>
                <a:latin typeface="Calibri"/>
              </a:rPr>
              <a:t>              </a:t>
            </a:r>
            <a:r>
              <a:rPr b="1" lang="en-US" sz="2800" strike="noStrike" u="none">
                <a:solidFill>
                  <a:schemeClr val="dk1"/>
                </a:solidFill>
                <a:uFillTx/>
                <a:latin typeface="Calibri"/>
              </a:rPr>
              <a:t>Mai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0" name="Freeform 13"/>
          <p:cNvSpPr/>
          <p:nvPr/>
        </p:nvSpPr>
        <p:spPr>
          <a:xfrm>
            <a:off x="7467480" y="6616080"/>
            <a:ext cx="3022920" cy="3022920"/>
          </a:xfrm>
          <a:custGeom>
            <a:avLst/>
            <a:gdLst>
              <a:gd name="textAreaLeft" fmla="*/ 0 w 3022920"/>
              <a:gd name="textAreaRight" fmla="*/ 3023280 w 3022920"/>
              <a:gd name="textAreaTop" fmla="*/ 0 h 3022920"/>
              <a:gd name="textAreaBottom" fmla="*/ 3023280 h 3022920"/>
            </a:gdLst>
            <a:ahLst/>
            <a:rect l="textAreaLeft" t="textAreaTop" r="textAreaRight" b="textAreaBottom"/>
            <a:pathLst>
              <a:path w="6350000" h="6349987">
                <a:moveTo>
                  <a:pt x="3175000" y="6349987"/>
                </a:moveTo>
                <a:cubicBezTo>
                  <a:pt x="1424279" y="6349987"/>
                  <a:pt x="0" y="4925733"/>
                  <a:pt x="0" y="3175038"/>
                </a:cubicBezTo>
                <a:cubicBezTo>
                  <a:pt x="0" y="1424317"/>
                  <a:pt x="1424292" y="0"/>
                  <a:pt x="3175000" y="0"/>
                </a:cubicBezTo>
                <a:cubicBezTo>
                  <a:pt x="4925733" y="0"/>
                  <a:pt x="6350000" y="1424330"/>
                  <a:pt x="6350000" y="3175038"/>
                </a:cubicBezTo>
                <a:cubicBezTo>
                  <a:pt x="6350000" y="4925720"/>
                  <a:pt x="4925733" y="6349987"/>
                  <a:pt x="3175000" y="6349987"/>
                </a:cubicBezTo>
                <a:close/>
                <a:moveTo>
                  <a:pt x="3175000" y="115760"/>
                </a:moveTo>
                <a:cubicBezTo>
                  <a:pt x="1488135" y="115760"/>
                  <a:pt x="115760" y="1488148"/>
                  <a:pt x="115760" y="3175038"/>
                </a:cubicBezTo>
                <a:cubicBezTo>
                  <a:pt x="115760" y="4861915"/>
                  <a:pt x="1488135" y="6234265"/>
                  <a:pt x="3175000" y="6234265"/>
                </a:cubicBezTo>
                <a:cubicBezTo>
                  <a:pt x="4861852" y="6234265"/>
                  <a:pt x="6234265" y="4861890"/>
                  <a:pt x="6234265" y="3175038"/>
                </a:cubicBezTo>
                <a:cubicBezTo>
                  <a:pt x="6234265" y="1488148"/>
                  <a:pt x="4861852" y="115760"/>
                  <a:pt x="3175000" y="115760"/>
                </a:cubicBezTo>
                <a:close/>
              </a:path>
            </a:pathLst>
          </a:custGeom>
          <a:solidFill>
            <a:srgbClr val="17e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         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uFillTx/>
                <a:latin typeface="Calibri"/>
              </a:rPr>
              <a:t>           </a:t>
            </a:r>
            <a:r>
              <a:rPr b="1" lang="en-US" sz="2800" strike="noStrike" u="none">
                <a:solidFill>
                  <a:schemeClr val="dk1"/>
                </a:solidFill>
                <a:uFillTx/>
                <a:latin typeface="Calibri"/>
              </a:rPr>
              <a:t>Shady 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1" name="Freeform 13"/>
          <p:cNvSpPr/>
          <p:nvPr/>
        </p:nvSpPr>
        <p:spPr>
          <a:xfrm>
            <a:off x="11683440" y="6768360"/>
            <a:ext cx="3022920" cy="3022920"/>
          </a:xfrm>
          <a:custGeom>
            <a:avLst/>
            <a:gdLst>
              <a:gd name="textAreaLeft" fmla="*/ 0 w 3022920"/>
              <a:gd name="textAreaRight" fmla="*/ 3023280 w 3022920"/>
              <a:gd name="textAreaTop" fmla="*/ 0 h 3022920"/>
              <a:gd name="textAreaBottom" fmla="*/ 3023280 h 3022920"/>
            </a:gdLst>
            <a:ahLst/>
            <a:rect l="textAreaLeft" t="textAreaTop" r="textAreaRight" b="textAreaBottom"/>
            <a:pathLst>
              <a:path w="6350000" h="6349987">
                <a:moveTo>
                  <a:pt x="3175000" y="6349987"/>
                </a:moveTo>
                <a:cubicBezTo>
                  <a:pt x="1424279" y="6349987"/>
                  <a:pt x="0" y="4925733"/>
                  <a:pt x="0" y="3175038"/>
                </a:cubicBezTo>
                <a:cubicBezTo>
                  <a:pt x="0" y="1424317"/>
                  <a:pt x="1424292" y="0"/>
                  <a:pt x="3175000" y="0"/>
                </a:cubicBezTo>
                <a:cubicBezTo>
                  <a:pt x="4925733" y="0"/>
                  <a:pt x="6350000" y="1424330"/>
                  <a:pt x="6350000" y="3175038"/>
                </a:cubicBezTo>
                <a:cubicBezTo>
                  <a:pt x="6350000" y="4925720"/>
                  <a:pt x="4925733" y="6349987"/>
                  <a:pt x="3175000" y="6349987"/>
                </a:cubicBezTo>
                <a:close/>
                <a:moveTo>
                  <a:pt x="3175000" y="115760"/>
                </a:moveTo>
                <a:cubicBezTo>
                  <a:pt x="1488135" y="115760"/>
                  <a:pt x="115760" y="1488148"/>
                  <a:pt x="115760" y="3175038"/>
                </a:cubicBezTo>
                <a:cubicBezTo>
                  <a:pt x="115760" y="4861915"/>
                  <a:pt x="1488135" y="6234265"/>
                  <a:pt x="3175000" y="6234265"/>
                </a:cubicBezTo>
                <a:cubicBezTo>
                  <a:pt x="4861852" y="6234265"/>
                  <a:pt x="6234265" y="4861890"/>
                  <a:pt x="6234265" y="3175038"/>
                </a:cubicBezTo>
                <a:cubicBezTo>
                  <a:pt x="6234265" y="1488148"/>
                  <a:pt x="4861852" y="115760"/>
                  <a:pt x="3175000" y="115760"/>
                </a:cubicBezTo>
                <a:close/>
              </a:path>
            </a:pathLst>
          </a:custGeom>
          <a:solidFill>
            <a:srgbClr val="17e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         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uFillTx/>
                <a:latin typeface="Calibri"/>
              </a:rPr>
              <a:t>           </a:t>
            </a:r>
            <a:r>
              <a:rPr b="1" lang="en-US" sz="2800" strike="noStrike" u="none">
                <a:solidFill>
                  <a:schemeClr val="dk1"/>
                </a:solidFill>
                <a:uFillTx/>
                <a:latin typeface="Calibri"/>
              </a:rPr>
              <a:t>Shady 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2" name="Group 2"/>
          <p:cNvGrpSpPr/>
          <p:nvPr/>
        </p:nvGrpSpPr>
        <p:grpSpPr>
          <a:xfrm>
            <a:off x="9690120" y="3049920"/>
            <a:ext cx="7568640" cy="7867800"/>
            <a:chOff x="9690120" y="3049920"/>
            <a:chExt cx="7568640" cy="7867800"/>
          </a:xfrm>
        </p:grpSpPr>
        <p:sp>
          <p:nvSpPr>
            <p:cNvPr id="753" name="Freeform 3"/>
            <p:cNvSpPr/>
            <p:nvPr/>
          </p:nvSpPr>
          <p:spPr>
            <a:xfrm>
              <a:off x="9690120" y="3049920"/>
              <a:ext cx="7568640" cy="7867800"/>
            </a:xfrm>
            <a:custGeom>
              <a:avLst/>
              <a:gdLst>
                <a:gd name="textAreaLeft" fmla="*/ 0 w 7568640"/>
                <a:gd name="textAreaRight" fmla="*/ 7569000 w 7568640"/>
                <a:gd name="textAreaTop" fmla="*/ 0 h 7867800"/>
                <a:gd name="textAreaBottom" fmla="*/ 7868160 h 7867800"/>
              </a:gdLst>
              <a:ahLst/>
              <a:rect l="textAreaLeft" t="textAreaTop" r="textAreaRight" b="textAreaBottom"/>
              <a:pathLst>
                <a:path w="6108573" h="6350000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754" name="Group 4"/>
          <p:cNvGrpSpPr/>
          <p:nvPr/>
        </p:nvGrpSpPr>
        <p:grpSpPr>
          <a:xfrm>
            <a:off x="9690120" y="736200"/>
            <a:ext cx="7568640" cy="7867800"/>
            <a:chOff x="9690120" y="736200"/>
            <a:chExt cx="7568640" cy="7867800"/>
          </a:xfrm>
        </p:grpSpPr>
        <p:sp>
          <p:nvSpPr>
            <p:cNvPr id="755" name="Freeform 5"/>
            <p:cNvSpPr/>
            <p:nvPr/>
          </p:nvSpPr>
          <p:spPr>
            <a:xfrm>
              <a:off x="9690120" y="736200"/>
              <a:ext cx="7568640" cy="7867800"/>
            </a:xfrm>
            <a:custGeom>
              <a:avLst/>
              <a:gdLst>
                <a:gd name="textAreaLeft" fmla="*/ 0 w 7568640"/>
                <a:gd name="textAreaRight" fmla="*/ 7569000 w 7568640"/>
                <a:gd name="textAreaTop" fmla="*/ 0 h 7867800"/>
                <a:gd name="textAreaBottom" fmla="*/ 7868160 h 7867800"/>
              </a:gdLst>
              <a:ahLst/>
              <a:rect l="textAreaLeft" t="textAreaTop" r="textAreaRight" b="textAreaBottom"/>
              <a:pathLst>
                <a:path w="6108573" h="6350000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756" name="TextBox 7"/>
          <p:cNvSpPr/>
          <p:nvPr/>
        </p:nvSpPr>
        <p:spPr>
          <a:xfrm>
            <a:off x="1668960" y="3320280"/>
            <a:ext cx="5734800" cy="24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624"/>
              </a:lnSpc>
              <a:tabLst>
                <a:tab algn="l" pos="0"/>
              </a:tabLst>
            </a:pPr>
            <a:r>
              <a:rPr b="1" lang="en-US" sz="6869" spc="420" strike="noStrike" u="none">
                <a:solidFill>
                  <a:srgbClr val="17e3b2"/>
                </a:solidFill>
                <a:uFillTx/>
                <a:latin typeface="Almarai Bold"/>
                <a:ea typeface="Almarai Bold"/>
              </a:rPr>
              <a:t>THANK YOU</a:t>
            </a:r>
            <a:endParaRPr b="0" lang="en-US" sz="6869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757" name="Group 10"/>
          <p:cNvGrpSpPr/>
          <p:nvPr/>
        </p:nvGrpSpPr>
        <p:grpSpPr>
          <a:xfrm>
            <a:off x="9690120" y="-62280"/>
            <a:ext cx="7568640" cy="7867800"/>
            <a:chOff x="9690120" y="-62280"/>
            <a:chExt cx="7568640" cy="7867800"/>
          </a:xfrm>
        </p:grpSpPr>
        <p:sp>
          <p:nvSpPr>
            <p:cNvPr id="758" name="Freeform 11"/>
            <p:cNvSpPr/>
            <p:nvPr/>
          </p:nvSpPr>
          <p:spPr>
            <a:xfrm>
              <a:off x="9690120" y="-62280"/>
              <a:ext cx="7568640" cy="7867800"/>
            </a:xfrm>
            <a:custGeom>
              <a:avLst/>
              <a:gdLst>
                <a:gd name="textAreaLeft" fmla="*/ 0 w 7568640"/>
                <a:gd name="textAreaRight" fmla="*/ 7569000 w 7568640"/>
                <a:gd name="textAreaTop" fmla="*/ 0 h 7867800"/>
                <a:gd name="textAreaBottom" fmla="*/ 7868160 h 7867800"/>
              </a:gdLst>
              <a:ahLst/>
              <a:rect l="textAreaLeft" t="textAreaTop" r="textAreaRight" b="textAreaBottom"/>
              <a:pathLst>
                <a:path w="6108573" h="6350000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759" name="Group 12"/>
          <p:cNvGrpSpPr/>
          <p:nvPr/>
        </p:nvGrpSpPr>
        <p:grpSpPr>
          <a:xfrm>
            <a:off x="9690120" y="1389960"/>
            <a:ext cx="7568640" cy="7867800"/>
            <a:chOff x="9690120" y="1389960"/>
            <a:chExt cx="7568640" cy="7867800"/>
          </a:xfrm>
        </p:grpSpPr>
        <p:sp>
          <p:nvSpPr>
            <p:cNvPr id="760" name="Freeform 13"/>
            <p:cNvSpPr/>
            <p:nvPr/>
          </p:nvSpPr>
          <p:spPr>
            <a:xfrm>
              <a:off x="9690120" y="1389960"/>
              <a:ext cx="7568640" cy="7867800"/>
            </a:xfrm>
            <a:custGeom>
              <a:avLst/>
              <a:gdLst>
                <a:gd name="textAreaLeft" fmla="*/ 0 w 7568640"/>
                <a:gd name="textAreaRight" fmla="*/ 7569000 w 7568640"/>
                <a:gd name="textAreaTop" fmla="*/ 0 h 7867800"/>
                <a:gd name="textAreaBottom" fmla="*/ 7868160 h 7867800"/>
              </a:gdLst>
              <a:ahLst/>
              <a:rect l="textAreaLeft" t="textAreaTop" r="textAreaRight" b="textAreaBottom"/>
              <a:pathLst>
                <a:path w="6108573" h="6350000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pic>
        <p:nvPicPr>
          <p:cNvPr id="761" name="Picture 2" descr="Oracle E-Business Suite ERP Solution Overview | Compare Oracle EBS ERP"/>
          <p:cNvPicPr/>
          <p:nvPr/>
        </p:nvPicPr>
        <p:blipFill>
          <a:blip r:embed="rId5"/>
          <a:stretch/>
        </p:blipFill>
        <p:spPr>
          <a:xfrm>
            <a:off x="10363320" y="2190960"/>
            <a:ext cx="5657040" cy="1760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</TotalTime>
  <Application>LibreOffice/24.8.6.2$Windows_X86_64 LibreOffice_project/6d98ba145e9a8a39fc57bcc76981d1fb1316c60c</Application>
  <AppVersion>15.0000</AppVersion>
  <Words>668</Words>
  <Paragraphs>252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Mohamed Ibrahim</dc:creator>
  <dc:description/>
  <dc:identifier>DAGj4QNwPgo</dc:identifier>
  <dc:language>en-US</dc:language>
  <cp:lastModifiedBy/>
  <dcterms:modified xsi:type="dcterms:W3CDTF">2025-04-28T19:54:05Z</dcterms:modified>
  <cp:revision>15</cp:revision>
  <dc:subject/>
  <dc:title>Blue Professional Business Project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48</vt:i4>
  </property>
</Properties>
</file>